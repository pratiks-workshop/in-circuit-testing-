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Poppins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5d2ff91a-3312-4341-8fbf-8aa062668ced.fntdata" /><ns0:Relationship Id="rIdFont21" Type="http://schemas.openxmlformats.org/officeDocument/2006/relationships/font" Target="fonts/a6eba11c-00e3-4554-8027-f1418eeea961.fntdata" /><ns0:Relationship Id="rIdFont22" Type="http://schemas.openxmlformats.org/officeDocument/2006/relationships/font" Target="fonts/f0aca3b8-6c3c-488c-a0a8-9a0d1b37ac2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024955"/>
            <a:ext cx="2438400" cy="276225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4280445"/>
            <a:ext cx="1104900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428044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850" y="2082105"/>
            <a:ext cx="2266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ICT ENGINEERING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91680"/>
            <a:ext cx="11620500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0F172A"/>
                </a:solidFill>
                <a:latin typeface="Poppins"/>
              </a:rPr>
              <a:t>ICT Vacuum Interlock &amp; Red Alarm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213645"/>
            <a:ext cx="819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Preventing False Failures &amp; Protecting Yield via SMC ZSE20 Real-Time Pneumatic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489995"/>
            <a:ext cx="1631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42395"/>
            <a:ext cx="1631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ICT Test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7425" y="4489995"/>
            <a:ext cx="2262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LOCATION /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425" y="4642395"/>
            <a:ext cx="2262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Jabil Manufacturing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8175" y="4489995"/>
            <a:ext cx="2357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TARGET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8175" y="4642395"/>
            <a:ext cx="2357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ICT Vacuum Test Fixtures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0" y="3414712"/>
            <a:ext cx="762000" cy="47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867" y="2214562"/>
            <a:ext cx="1012626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FFFFF"/>
                </a:solidFill>
                <a:latin typeface="Poppins"/>
              </a:rPr>
              <a:t>Problem Statement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1156" y="3700462"/>
            <a:ext cx="8929687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Unnoticed vacuum drops during In-Circuit Testing lead to poor pogo-pin contact, generating false rejections, unnecessary troubleshooting, and line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4112"/>
            <a:ext cx="85725" cy="142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52762"/>
            <a:ext cx="857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81412"/>
            <a:ext cx="857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10062"/>
            <a:ext cx="85725" cy="1428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95487"/>
            <a:ext cx="53340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995487"/>
            <a:ext cx="53340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476250"/>
            <a:ext cx="11468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Vacuum Loss in ICT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995487"/>
            <a:ext cx="57007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oppins"/>
              </a:rPr>
              <a:t>Operational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05062"/>
            <a:ext cx="5162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Operators frequently fail to notice gradual or sudden drops in vacuum levels during fixture actuation.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033712"/>
            <a:ext cx="5162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Insufficient vacuum pressure leads to incomplete PCBA pull-down, causing open/short pogo-pin contact errors.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662362"/>
            <a:ext cx="5162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Boards are misdiagnosed as defective, resulting in false failures and unnecessary scrap/re-work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291012"/>
            <a:ext cx="5162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Retesting false-failed units reduces line throughput and wastes valuable ICT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733675"/>
            <a:ext cx="533400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2733675"/>
            <a:ext cx="533400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476250"/>
            <a:ext cx="11468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Root Cause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28950"/>
            <a:ext cx="508063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Poppins"/>
              </a:rPr>
              <a:t>Lack of Visual / Audible Indication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438525"/>
            <a:ext cx="4838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Standard vacuum gauges are small and positioned inside or behind test cabinets. Operators focus on the test monitor display and cannot observe pneumatic drift during active board loading.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028950"/>
            <a:ext cx="508063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563EB"/>
                </a:solidFill>
                <a:latin typeface="Poppins"/>
              </a:rPr>
              <a:t>No Automated Test Interlock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438525"/>
            <a:ext cx="4838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The ICT program executes regardless of vacuum pressure integrity. If pressure dips mid-test, the software reports component failures rather than flagging a pneumatic utility fault.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371725"/>
            <a:ext cx="3530649" cy="2867025"/>
          </a:xfrm>
          <a:prstGeom prst="roundRect">
            <a:avLst>
              <a:gd name="adj" fmla="val 3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2371725"/>
            <a:ext cx="3530649" cy="2867025"/>
          </a:xfrm>
          <a:prstGeom prst="roundRect">
            <a:avLst>
              <a:gd name="adj" fmla="val 3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89999" y="2371725"/>
            <a:ext cx="3530649" cy="2867025"/>
          </a:xfrm>
          <a:prstGeom prst="roundRect">
            <a:avLst>
              <a:gd name="adj" fmla="val 39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647950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974" y="2647950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224" y="2647950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781300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3187" y="2781300"/>
            <a:ext cx="257175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9574" y="2781300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900" y="476250"/>
            <a:ext cx="11468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Key 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409950"/>
            <a:ext cx="246030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oppins"/>
              </a:rPr>
              <a:t>Precision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19525"/>
            <a:ext cx="30734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Integrate SMC ZSE20 digital vacuum sensor for continuous, highly accurate pressure threshold evaluation.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6974" y="3409950"/>
            <a:ext cx="231028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oppins"/>
              </a:rPr>
              <a:t>Instant Visual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6974" y="3819525"/>
            <a:ext cx="30734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Trigger a prominent red alarm tower light &amp; audible buzzer when vacuum pressure drops below operational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224" y="3409950"/>
            <a:ext cx="223027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oppins"/>
              </a:rPr>
              <a:t>Zero False Failures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224" y="3819525"/>
            <a:ext cx="307344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Prevent test execution during pressure drops, ensuring only genuine electrical defects are flagged.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4112"/>
            <a:ext cx="85725" cy="142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52762"/>
            <a:ext cx="857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81412"/>
            <a:ext cx="857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10062"/>
            <a:ext cx="85725" cy="1428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95487"/>
            <a:ext cx="53340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995487"/>
            <a:ext cx="53340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476250"/>
            <a:ext cx="11468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SMC ZSE20 Switch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995487"/>
            <a:ext cx="57007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oppins"/>
              </a:rPr>
              <a:t>Sensor Capabilities &amp;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05062"/>
            <a:ext cx="5162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Range &amp; Display: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0.0 to -101.0 kPa range with 3-screen 3-color digital readout.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033712"/>
            <a:ext cx="5162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Fast Response: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Short delay time (&lt; 1.5 ms) catches instantaneous vacuum leaks.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662362"/>
            <a:ext cx="5162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Dual Output (NPN/PNP):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Programmable digital switch outputs with hysteresis mode.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291012"/>
            <a:ext cx="51625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Set-Point Control: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Configurable vacuum limit (e.g., alert triggered at &lt; -65 kPa).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3900" y="476250"/>
            <a:ext cx="554069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Relay Interlock Circuit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714625"/>
            <a:ext cx="57007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oppins"/>
              </a:rPr>
              <a:t>Electrical Circuit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124200"/>
            <a:ext cx="5429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The SMC ZSE20 digital output (Black wire OUT1) drives a 24V DC miniature industrial relay coil (A1/A2) protected by a freewheeling diode.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010025"/>
            <a:ext cx="5429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When vacuum falls below threshold, the relay switches contacts to power a 24V Red Alarm Beacon / Siren and opens the ICT Start Interlock signal 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2728912"/>
            <a:ext cx="5334000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476250"/>
            <a:ext cx="11468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Target ROI &amp; Failure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2906" y="3119437"/>
            <a:ext cx="5691187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DC2626"/>
                </a:solidFill>
                <a:latin typeface="Poppins"/>
              </a:rP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906" y="4262437"/>
            <a:ext cx="5691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475569"/>
                </a:solidFill>
                <a:latin typeface="Inter"/>
              </a:rPr>
              <a:t>Pneumatic False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971800"/>
            <a:ext cx="57007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Poppins"/>
              </a:rPr>
              <a:t>Quantifiable Production Gains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381375"/>
            <a:ext cx="5429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Eliminates false rejections caused by vacuum drops, reducing false failure rates to near zero.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010025"/>
            <a:ext cx="5429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Saves an estimated 15-20 hours per month of engineering re-test and false defect troubleshooting time per ICT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195512"/>
            <a:ext cx="26159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87451" y="2195512"/>
            <a:ext cx="26058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3283" y="2195512"/>
            <a:ext cx="7307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24029" y="2195512"/>
            <a:ext cx="1286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0351" y="2195512"/>
            <a:ext cx="38101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986087"/>
            <a:ext cx="26159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87451" y="2986087"/>
            <a:ext cx="26058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93283" y="2986087"/>
            <a:ext cx="7307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24029" y="2986087"/>
            <a:ext cx="1286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0351" y="2986087"/>
            <a:ext cx="38101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3776662"/>
            <a:ext cx="26159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7451" y="3776662"/>
            <a:ext cx="26058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93283" y="3776662"/>
            <a:ext cx="7307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24029" y="3776662"/>
            <a:ext cx="1286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0351" y="3776662"/>
            <a:ext cx="38101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567237"/>
            <a:ext cx="26159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87451" y="4567237"/>
            <a:ext cx="26058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93283" y="4567237"/>
            <a:ext cx="7307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24029" y="4567237"/>
            <a:ext cx="1286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0351" y="4567237"/>
            <a:ext cx="38101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5357812"/>
            <a:ext cx="26159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87451" y="5357812"/>
            <a:ext cx="26058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93283" y="5357812"/>
            <a:ext cx="7307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24029" y="5357812"/>
            <a:ext cx="1286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0351" y="5357812"/>
            <a:ext cx="38101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" y="6148387"/>
            <a:ext cx="26159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87451" y="6148387"/>
            <a:ext cx="26058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93283" y="6148387"/>
            <a:ext cx="7307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24029" y="6148387"/>
            <a:ext cx="12863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0351" y="6148387"/>
            <a:ext cx="38101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71500" y="1447800"/>
          <a:ext cx="11048997" cy="47148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15951"/>
                <a:gridCol w="2605831"/>
                <a:gridCol w="730746"/>
                <a:gridCol w="1286321"/>
                <a:gridCol w="3810148"/>
              </a:tblGrid>
              <a:tr h="785812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Poppins"/>
                        </a:rPr>
                        <a:t>Item Description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Poppins"/>
                        </a:rPr>
                        <a:t>Model / Spec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Poppins"/>
                        </a:rPr>
                        <a:t>Qty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Poppins"/>
                        </a:rPr>
                        <a:t>Est. Cost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Poppins"/>
                        </a:rPr>
                        <a:t>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858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SMC Digital Vacuum Switch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ZSE20-N-01-L (NPN)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$110.00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Precision pressure monitoring &amp; switching output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58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24V DC Relay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Omron MY2N-D2 / Finder 40 Series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$15.00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Switches high current for alarm tower &amp; signal interlock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858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Red LED Alarm Tower + Buzzer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24V DC Industrial Beacon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$35.00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Visual/audible operator warning light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581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Pneumatic T-Fittings &amp; Tubing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SMC KQ2H 6mm One-Touch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1 set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$12.00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Inline connection to main fixture vacuum 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8581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Wiring, Enclosure &amp; Terminal Block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Standard Panel Mount Box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1 set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$25.00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Inter"/>
                        </a:rPr>
                        <a:t>Safe electrical enclosure &amp; clean wiring layout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23900" y="476250"/>
            <a:ext cx="11468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Bill of Materials &amp; Cost Estimate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9766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1500" y="4233862"/>
            <a:ext cx="2541240" cy="1038225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99174" y="38528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7419" y="2719387"/>
            <a:ext cx="2541240" cy="1038225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35094" y="38528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3339" y="4233862"/>
            <a:ext cx="2541240" cy="1038225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71014" y="38528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79259" y="2719387"/>
            <a:ext cx="2541240" cy="1038225"/>
          </a:xfrm>
          <a:prstGeom prst="roundRect">
            <a:avLst>
              <a:gd name="adj" fmla="val 73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06934" y="38528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476250"/>
            <a:ext cx="11468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Project Implementation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957" y="4395787"/>
            <a:ext cx="291032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Poppins"/>
              </a:rPr>
              <a:t>Week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51" y="4710112"/>
            <a:ext cx="27717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BOM procurement &amp; panel mechanical enclosure prep.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2877" y="2881312"/>
            <a:ext cx="291032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Poppins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2171" y="3195637"/>
            <a:ext cx="27717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Relay &amp; SMC ZSE20 wiring, threshold programming (-65 kPa).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8797" y="4395787"/>
            <a:ext cx="291032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Poppins"/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8091" y="4710112"/>
            <a:ext cx="27717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Pilot installation on 1 ICT station &amp; off-line validation.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4717" y="2881312"/>
            <a:ext cx="291032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2563EB"/>
                </a:solidFill>
                <a:latin typeface="Poppins"/>
              </a:rP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4010" y="3195637"/>
            <a:ext cx="27717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Operator briefing, SOP release &amp; full line roll-out.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33500" y="1709737"/>
            <a:ext cx="9525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33500" y="2757487"/>
            <a:ext cx="9525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33500" y="3805237"/>
            <a:ext cx="9525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33500" y="4852987"/>
            <a:ext cx="9525000" cy="87630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257651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33500" y="362426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3500" y="467201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33500" y="571976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5" y="1905000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5" y="2952750"/>
            <a:ext cx="20955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475" y="4000500"/>
            <a:ext cx="180975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475" y="5048250"/>
            <a:ext cx="209550" cy="2190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3900" y="476250"/>
            <a:ext cx="11468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SOPs &amp; Maintenance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7375" y="1881187"/>
            <a:ext cx="89058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Key Lock Protection: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Activate password key-lock on SMC ZSE20 to prevent unauthorized threshold editing by line operators.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7375" y="2928937"/>
            <a:ext cx="89058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Calibrated Thresholds: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Standardize low-vacuum trip point at -65 kPa (with 5 kPa hysteresis) across all ICT vacuum fixtures.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7375" y="3976687"/>
            <a:ext cx="89058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Shift Start Verification: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Add a 5-second vacuum alarm check to daily operator PM checklist prior to production runs.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7375" y="5024437"/>
            <a:ext cx="890587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Preventive Maintenance: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Clean pneumatic filter cups monthly to ensure swift response times and clean sensor tubing.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81425" y="2324100"/>
            <a:ext cx="4629150" cy="4286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404812" y="476250"/>
            <a:ext cx="13001625" cy="904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oppins"/>
              </a:rPr>
              <a:t>Summary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1533525"/>
            <a:ext cx="13001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Ready to implement on Pilot ICT Line 1 with minimal investment ($197/station).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9481" y="2438400"/>
            <a:ext cx="525303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Jabil ICT Engineering Department | Open for Q&amp;A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28862" y="2652712"/>
            <a:ext cx="75342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28862" y="3424237"/>
            <a:ext cx="75342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28862" y="3414712"/>
            <a:ext cx="75342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28862" y="3414712"/>
            <a:ext cx="75342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28862" y="4186237"/>
            <a:ext cx="75342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28862" y="4186237"/>
            <a:ext cx="75342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862" y="2795587"/>
            <a:ext cx="857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862" y="3567112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8862" y="4338637"/>
            <a:ext cx="15049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900" y="476250"/>
            <a:ext cx="114681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4237" y="2802731"/>
            <a:ext cx="80486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https://ikrorwxhnjmplp5m-static.micyjz.com/cloud/jqBprKknloSRjkqinpmoiq/ICT-Tester-Q518D.png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237" y="3036093"/>
            <a:ext cx="8048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www.smtfactory.com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237" y="3574256"/>
            <a:ext cx="80486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https://www.smcpneumatics.com/images/5031.jpg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4237" y="3807618"/>
            <a:ext cx="8048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www.smcpneumatics.com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4237" y="4345781"/>
            <a:ext cx="804862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https://global.discourse-cdn.com/digikey/original/3X/1/4/1433fc1a772b64f4367f4789ec038d7b9084306f.jpeg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4237" y="4579143"/>
            <a:ext cx="8048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forum.digikey.com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