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driana" charset="1" panose="00000000000000000000"/>
      <p:regular r:id="rId26"/>
    </p:embeddedFont>
    <p:embeddedFont>
      <p:font typeface="Poppins Bold" charset="1" panose="00000800000000000000"/>
      <p:regular r:id="rId27"/>
    </p:embeddedFont>
    <p:embeddedFont>
      <p:font typeface="Poppins"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jpe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5.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jpe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5.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jpe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jpe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3.png" Type="http://schemas.openxmlformats.org/officeDocument/2006/relationships/image"/><Relationship Id="rId8" Target="../media/image24.jpeg" Type="http://schemas.openxmlformats.org/officeDocument/2006/relationships/image"/><Relationship Id="rId9" Target="../media/image25.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jpe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jpe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12" Target="../media/image34.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3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10800000">
            <a:off x="-1277702" y="1412659"/>
            <a:ext cx="20843404" cy="6935169"/>
          </a:xfrm>
          <a:custGeom>
            <a:avLst/>
            <a:gdLst/>
            <a:ahLst/>
            <a:cxnLst/>
            <a:rect r="r" b="b" t="t" l="l"/>
            <a:pathLst>
              <a:path h="6935169" w="20843404">
                <a:moveTo>
                  <a:pt x="0" y="0"/>
                </a:moveTo>
                <a:lnTo>
                  <a:pt x="20843404" y="0"/>
                </a:lnTo>
                <a:lnTo>
                  <a:pt x="20843404" y="6935169"/>
                </a:lnTo>
                <a:lnTo>
                  <a:pt x="0" y="69351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14475" y="3825939"/>
            <a:ext cx="17659050" cy="1890880"/>
          </a:xfrm>
          <a:prstGeom prst="rect">
            <a:avLst/>
          </a:prstGeom>
        </p:spPr>
        <p:txBody>
          <a:bodyPr anchor="t" rtlCol="false" tIns="0" lIns="0" bIns="0" rIns="0">
            <a:spAutoFit/>
          </a:bodyPr>
          <a:lstStyle/>
          <a:p>
            <a:pPr algn="ctr">
              <a:lnSpc>
                <a:spcPts val="13004"/>
              </a:lnSpc>
            </a:pPr>
            <a:r>
              <a:rPr lang="en-US" sz="16461">
                <a:solidFill>
                  <a:srgbClr val="FFFFFF"/>
                </a:solidFill>
                <a:latin typeface="Adriana"/>
                <a:ea typeface="Adriana"/>
                <a:cs typeface="Adriana"/>
                <a:sym typeface="Adriana"/>
              </a:rPr>
              <a:t>TECHNOLOGY</a:t>
            </a:r>
          </a:p>
        </p:txBody>
      </p:sp>
      <p:sp>
        <p:nvSpPr>
          <p:cNvPr name="TextBox 5" id="5"/>
          <p:cNvSpPr txBox="true"/>
          <p:nvPr/>
        </p:nvSpPr>
        <p:spPr>
          <a:xfrm rot="0">
            <a:off x="3926048" y="5431069"/>
            <a:ext cx="10435905" cy="934742"/>
          </a:xfrm>
          <a:prstGeom prst="rect">
            <a:avLst/>
          </a:prstGeom>
        </p:spPr>
        <p:txBody>
          <a:bodyPr anchor="t" rtlCol="false" tIns="0" lIns="0" bIns="0" rIns="0">
            <a:spAutoFit/>
          </a:bodyPr>
          <a:lstStyle/>
          <a:p>
            <a:pPr algn="ctr">
              <a:lnSpc>
                <a:spcPts val="7279"/>
              </a:lnSpc>
            </a:pPr>
            <a:r>
              <a:rPr lang="en-US" b="true" sz="5199">
                <a:solidFill>
                  <a:srgbClr val="FFFFFF"/>
                </a:solidFill>
                <a:latin typeface="Poppins Bold"/>
                <a:ea typeface="Poppins Bold"/>
                <a:cs typeface="Poppins Bold"/>
                <a:sym typeface="Poppins Bold"/>
              </a:rPr>
              <a:t>SH</a:t>
            </a:r>
            <a:r>
              <a:rPr lang="en-US" b="true" sz="5199">
                <a:solidFill>
                  <a:srgbClr val="FFFFFF"/>
                </a:solidFill>
                <a:latin typeface="Poppins Bold"/>
                <a:ea typeface="Poppins Bold"/>
                <a:cs typeface="Poppins Bold"/>
                <a:sym typeface="Poppins Bold"/>
              </a:rPr>
              <a:t>APING THE DIGITAL FUTURE</a:t>
            </a:r>
          </a:p>
        </p:txBody>
      </p:sp>
      <p:sp>
        <p:nvSpPr>
          <p:cNvPr name="TextBox 6" id="6"/>
          <p:cNvSpPr txBox="true"/>
          <p:nvPr/>
        </p:nvSpPr>
        <p:spPr>
          <a:xfrm rot="0">
            <a:off x="4180468" y="1686221"/>
            <a:ext cx="4963532" cy="592026"/>
          </a:xfrm>
          <a:prstGeom prst="rect">
            <a:avLst/>
          </a:prstGeom>
        </p:spPr>
        <p:txBody>
          <a:bodyPr anchor="t" rtlCol="false" tIns="0" lIns="0" bIns="0" rIns="0">
            <a:spAutoFit/>
          </a:bodyPr>
          <a:lstStyle/>
          <a:p>
            <a:pPr algn="ctr">
              <a:lnSpc>
                <a:spcPts val="4641"/>
              </a:lnSpc>
            </a:pPr>
            <a:r>
              <a:rPr lang="en-US" sz="3315">
                <a:solidFill>
                  <a:srgbClr val="FFFFFF"/>
                </a:solidFill>
                <a:latin typeface="Poppins"/>
                <a:ea typeface="Poppins"/>
                <a:cs typeface="Poppins"/>
                <a:sym typeface="Poppins"/>
              </a:rPr>
              <a:t>Cloudlet Systems</a:t>
            </a:r>
          </a:p>
        </p:txBody>
      </p:sp>
      <p:sp>
        <p:nvSpPr>
          <p:cNvPr name="Freeform 7" id="7"/>
          <p:cNvSpPr/>
          <p:nvPr/>
        </p:nvSpPr>
        <p:spPr>
          <a:xfrm flipH="true" flipV="true" rot="-5400000">
            <a:off x="-1676932" y="7956759"/>
            <a:ext cx="6739138" cy="6432813"/>
          </a:xfrm>
          <a:custGeom>
            <a:avLst/>
            <a:gdLst/>
            <a:ahLst/>
            <a:cxnLst/>
            <a:rect r="r" b="b" t="t" l="l"/>
            <a:pathLst>
              <a:path h="6432813" w="6739138">
                <a:moveTo>
                  <a:pt x="6739137" y="6432813"/>
                </a:moveTo>
                <a:lnTo>
                  <a:pt x="0" y="6432813"/>
                </a:lnTo>
                <a:lnTo>
                  <a:pt x="0" y="0"/>
                </a:lnTo>
                <a:lnTo>
                  <a:pt x="6739137" y="0"/>
                </a:lnTo>
                <a:lnTo>
                  <a:pt x="6739137" y="6432813"/>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5400000">
            <a:off x="16196133" y="-4307728"/>
            <a:ext cx="6739138" cy="6432813"/>
          </a:xfrm>
          <a:custGeom>
            <a:avLst/>
            <a:gdLst/>
            <a:ahLst/>
            <a:cxnLst/>
            <a:rect r="r" b="b" t="t" l="l"/>
            <a:pathLst>
              <a:path h="6432813" w="6739138">
                <a:moveTo>
                  <a:pt x="6739138" y="6432813"/>
                </a:moveTo>
                <a:lnTo>
                  <a:pt x="0" y="6432813"/>
                </a:lnTo>
                <a:lnTo>
                  <a:pt x="0" y="0"/>
                </a:lnTo>
                <a:lnTo>
                  <a:pt x="6739138" y="0"/>
                </a:lnTo>
                <a:lnTo>
                  <a:pt x="6739138" y="6432813"/>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3204418" y="6508686"/>
            <a:ext cx="11879163" cy="573642"/>
          </a:xfrm>
          <a:custGeom>
            <a:avLst/>
            <a:gdLst/>
            <a:ahLst/>
            <a:cxnLst/>
            <a:rect r="r" b="b" t="t" l="l"/>
            <a:pathLst>
              <a:path h="573642" w="11879163">
                <a:moveTo>
                  <a:pt x="0" y="0"/>
                </a:moveTo>
                <a:lnTo>
                  <a:pt x="11879164" y="0"/>
                </a:lnTo>
                <a:lnTo>
                  <a:pt x="11879164" y="573642"/>
                </a:lnTo>
                <a:lnTo>
                  <a:pt x="0" y="5736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5400000">
            <a:off x="15892103" y="9351030"/>
            <a:ext cx="4080137" cy="3894676"/>
          </a:xfrm>
          <a:custGeom>
            <a:avLst/>
            <a:gdLst/>
            <a:ahLst/>
            <a:cxnLst/>
            <a:rect r="r" b="b" t="t" l="l"/>
            <a:pathLst>
              <a:path h="3894676" w="4080137">
                <a:moveTo>
                  <a:pt x="4080137" y="3894676"/>
                </a:moveTo>
                <a:lnTo>
                  <a:pt x="0" y="3894676"/>
                </a:lnTo>
                <a:lnTo>
                  <a:pt x="0" y="0"/>
                </a:lnTo>
                <a:lnTo>
                  <a:pt x="4080137" y="0"/>
                </a:lnTo>
                <a:lnTo>
                  <a:pt x="4080137" y="389467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891211" y="4734926"/>
            <a:ext cx="9368089" cy="4523374"/>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p>
        </p:txBody>
      </p:sp>
      <p:sp>
        <p:nvSpPr>
          <p:cNvPr name="Freeform 5" id="5"/>
          <p:cNvSpPr/>
          <p:nvPr/>
        </p:nvSpPr>
        <p:spPr>
          <a:xfrm flipH="false" flipV="false" rot="0">
            <a:off x="-1153268" y="-1503011"/>
            <a:ext cx="8674931" cy="8674931"/>
          </a:xfrm>
          <a:custGeom>
            <a:avLst/>
            <a:gdLst/>
            <a:ahLst/>
            <a:cxnLst/>
            <a:rect r="r" b="b" t="t" l="l"/>
            <a:pathLst>
              <a:path h="8674931" w="8674931">
                <a:moveTo>
                  <a:pt x="0" y="0"/>
                </a:moveTo>
                <a:lnTo>
                  <a:pt x="8674930" y="0"/>
                </a:lnTo>
                <a:lnTo>
                  <a:pt x="8674930" y="8674930"/>
                </a:lnTo>
                <a:lnTo>
                  <a:pt x="0" y="8674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80889" y="-322297"/>
            <a:ext cx="7078857" cy="6313503"/>
            <a:chOff x="0" y="0"/>
            <a:chExt cx="1101324" cy="982250"/>
          </a:xfrm>
        </p:grpSpPr>
        <p:sp>
          <p:nvSpPr>
            <p:cNvPr name="Freeform 7" id="7"/>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7"/>
              <a:stretch>
                <a:fillRect l="-16830" t="0" r="-16830" b="0"/>
              </a:stretch>
            </a:blipFill>
            <a:ln w="38100" cap="sq">
              <a:solidFill>
                <a:srgbClr val="FFFFFF"/>
              </a:solidFill>
              <a:prstDash val="solid"/>
              <a:miter/>
            </a:ln>
          </p:spPr>
        </p:sp>
      </p:grpSp>
      <p:sp>
        <p:nvSpPr>
          <p:cNvPr name="TextBox 8" id="8"/>
          <p:cNvSpPr txBox="true"/>
          <p:nvPr/>
        </p:nvSpPr>
        <p:spPr>
          <a:xfrm rot="0">
            <a:off x="7891211" y="1587354"/>
            <a:ext cx="9368089" cy="2752739"/>
          </a:xfrm>
          <a:prstGeom prst="rect">
            <a:avLst/>
          </a:prstGeom>
        </p:spPr>
        <p:txBody>
          <a:bodyPr anchor="t" rtlCol="false" tIns="0" lIns="0" bIns="0" rIns="0">
            <a:spAutoFit/>
          </a:bodyPr>
          <a:lstStyle/>
          <a:p>
            <a:pPr algn="l">
              <a:lnSpc>
                <a:spcPts val="6898"/>
              </a:lnSpc>
            </a:pPr>
            <a:r>
              <a:rPr lang="en-US" sz="8732">
                <a:solidFill>
                  <a:srgbClr val="FFFFFF"/>
                </a:solidFill>
                <a:latin typeface="Adriana"/>
                <a:ea typeface="Adriana"/>
                <a:cs typeface="Adriana"/>
                <a:sym typeface="Adriana"/>
              </a:rPr>
              <a:t>THE EVOLUTION OF TECHNOLOGY</a:t>
            </a:r>
          </a:p>
        </p:txBody>
      </p:sp>
      <p:sp>
        <p:nvSpPr>
          <p:cNvPr name="Freeform 9" id="9"/>
          <p:cNvSpPr/>
          <p:nvPr/>
        </p:nvSpPr>
        <p:spPr>
          <a:xfrm flipH="false" flipV="true" rot="0">
            <a:off x="-6252632" y="7392587"/>
            <a:ext cx="13774294" cy="2460945"/>
          </a:xfrm>
          <a:custGeom>
            <a:avLst/>
            <a:gdLst/>
            <a:ahLst/>
            <a:cxnLst/>
            <a:rect r="r" b="b" t="t" l="l"/>
            <a:pathLst>
              <a:path h="2460945" w="13774294">
                <a:moveTo>
                  <a:pt x="0" y="2460945"/>
                </a:moveTo>
                <a:lnTo>
                  <a:pt x="13774294" y="2460945"/>
                </a:lnTo>
                <a:lnTo>
                  <a:pt x="13774294" y="0"/>
                </a:lnTo>
                <a:lnTo>
                  <a:pt x="0" y="0"/>
                </a:lnTo>
                <a:lnTo>
                  <a:pt x="0" y="246094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true" rot="0">
            <a:off x="11045025" y="0"/>
            <a:ext cx="13774294" cy="2460945"/>
          </a:xfrm>
          <a:custGeom>
            <a:avLst/>
            <a:gdLst/>
            <a:ahLst/>
            <a:cxnLst/>
            <a:rect r="r" b="b" t="t" l="l"/>
            <a:pathLst>
              <a:path h="2460945" w="13774294">
                <a:moveTo>
                  <a:pt x="0" y="2460945"/>
                </a:moveTo>
                <a:lnTo>
                  <a:pt x="13774294" y="2460945"/>
                </a:lnTo>
                <a:lnTo>
                  <a:pt x="13774294" y="0"/>
                </a:lnTo>
                <a:lnTo>
                  <a:pt x="0" y="0"/>
                </a:lnTo>
                <a:lnTo>
                  <a:pt x="0" y="2460945"/>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TextBox 3" id="3"/>
          <p:cNvSpPr txBox="true"/>
          <p:nvPr/>
        </p:nvSpPr>
        <p:spPr>
          <a:xfrm rot="0">
            <a:off x="7201914" y="4349362"/>
            <a:ext cx="9566961" cy="1912125"/>
          </a:xfrm>
          <a:prstGeom prst="rect">
            <a:avLst/>
          </a:prstGeom>
        </p:spPr>
        <p:txBody>
          <a:bodyPr anchor="t" rtlCol="false" tIns="0" lIns="0" bIns="0" rIns="0">
            <a:spAutoFit/>
          </a:bodyPr>
          <a:lstStyle/>
          <a:p>
            <a:pPr algn="ctr">
              <a:lnSpc>
                <a:spcPts val="7045"/>
              </a:lnSpc>
            </a:pPr>
            <a:r>
              <a:rPr lang="en-US" sz="8918">
                <a:solidFill>
                  <a:srgbClr val="FFFFFF"/>
                </a:solidFill>
                <a:latin typeface="Adriana"/>
                <a:ea typeface="Adriana"/>
                <a:cs typeface="Adriana"/>
                <a:sym typeface="Adriana"/>
              </a:rPr>
              <a:t>BENEFITS OF TECHNOLOGY</a:t>
            </a:r>
          </a:p>
        </p:txBody>
      </p:sp>
      <p:grpSp>
        <p:nvGrpSpPr>
          <p:cNvPr name="Group 4" id="4"/>
          <p:cNvGrpSpPr/>
          <p:nvPr/>
        </p:nvGrpSpPr>
        <p:grpSpPr>
          <a:xfrm rot="0">
            <a:off x="1513776" y="1122142"/>
            <a:ext cx="5704813" cy="898602"/>
            <a:chOff x="0" y="0"/>
            <a:chExt cx="1502502" cy="236669"/>
          </a:xfrm>
        </p:grpSpPr>
        <p:sp>
          <p:nvSpPr>
            <p:cNvPr name="Freeform 5" id="5"/>
            <p:cNvSpPr/>
            <p:nvPr/>
          </p:nvSpPr>
          <p:spPr>
            <a:xfrm flipH="false" flipV="false" rot="0">
              <a:off x="0" y="0"/>
              <a:ext cx="1502502" cy="236669"/>
            </a:xfrm>
            <a:custGeom>
              <a:avLst/>
              <a:gdLst/>
              <a:ahLst/>
              <a:cxnLst/>
              <a:rect r="r" b="b" t="t" l="l"/>
              <a:pathLst>
                <a:path h="236669" w="1502502">
                  <a:moveTo>
                    <a:pt x="0" y="0"/>
                  </a:moveTo>
                  <a:lnTo>
                    <a:pt x="1502502" y="0"/>
                  </a:lnTo>
                  <a:lnTo>
                    <a:pt x="1502502" y="236669"/>
                  </a:lnTo>
                  <a:lnTo>
                    <a:pt x="0" y="236669"/>
                  </a:lnTo>
                  <a:close/>
                </a:path>
              </a:pathLst>
            </a:custGeom>
            <a:solidFill>
              <a:srgbClr val="FFFFFF"/>
            </a:solidFill>
            <a:ln cap="sq">
              <a:noFill/>
              <a:prstDash val="solid"/>
              <a:miter/>
            </a:ln>
          </p:spPr>
        </p:sp>
        <p:sp>
          <p:nvSpPr>
            <p:cNvPr name="TextBox 6" id="6"/>
            <p:cNvSpPr txBox="true"/>
            <p:nvPr/>
          </p:nvSpPr>
          <p:spPr>
            <a:xfrm>
              <a:off x="0" y="-38100"/>
              <a:ext cx="1502502"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363301" y="5910311"/>
            <a:ext cx="5855287" cy="898602"/>
            <a:chOff x="0" y="0"/>
            <a:chExt cx="1542133" cy="236669"/>
          </a:xfrm>
        </p:grpSpPr>
        <p:sp>
          <p:nvSpPr>
            <p:cNvPr name="Freeform 8" id="8"/>
            <p:cNvSpPr/>
            <p:nvPr/>
          </p:nvSpPr>
          <p:spPr>
            <a:xfrm flipH="false" flipV="false" rot="0">
              <a:off x="0" y="0"/>
              <a:ext cx="1542133" cy="236669"/>
            </a:xfrm>
            <a:custGeom>
              <a:avLst/>
              <a:gdLst/>
              <a:ahLst/>
              <a:cxnLst/>
              <a:rect r="r" b="b" t="t" l="l"/>
              <a:pathLst>
                <a:path h="236669" w="1542133">
                  <a:moveTo>
                    <a:pt x="0" y="0"/>
                  </a:moveTo>
                  <a:lnTo>
                    <a:pt x="1542133" y="0"/>
                  </a:lnTo>
                  <a:lnTo>
                    <a:pt x="1542133" y="236669"/>
                  </a:lnTo>
                  <a:lnTo>
                    <a:pt x="0" y="236669"/>
                  </a:lnTo>
                  <a:close/>
                </a:path>
              </a:pathLst>
            </a:custGeom>
            <a:solidFill>
              <a:srgbClr val="FFFFFF"/>
            </a:solidFill>
            <a:ln cap="sq">
              <a:noFill/>
              <a:prstDash val="solid"/>
              <a:miter/>
            </a:ln>
          </p:spPr>
        </p:sp>
        <p:sp>
          <p:nvSpPr>
            <p:cNvPr name="TextBox 9" id="9"/>
            <p:cNvSpPr txBox="true"/>
            <p:nvPr/>
          </p:nvSpPr>
          <p:spPr>
            <a:xfrm>
              <a:off x="0" y="-38100"/>
              <a:ext cx="154213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513776" y="2310462"/>
            <a:ext cx="5704813" cy="898602"/>
            <a:chOff x="0" y="0"/>
            <a:chExt cx="1502502" cy="236669"/>
          </a:xfrm>
        </p:grpSpPr>
        <p:sp>
          <p:nvSpPr>
            <p:cNvPr name="Freeform 11" id="11"/>
            <p:cNvSpPr/>
            <p:nvPr/>
          </p:nvSpPr>
          <p:spPr>
            <a:xfrm flipH="false" flipV="false" rot="0">
              <a:off x="0" y="0"/>
              <a:ext cx="1502502" cy="236669"/>
            </a:xfrm>
            <a:custGeom>
              <a:avLst/>
              <a:gdLst/>
              <a:ahLst/>
              <a:cxnLst/>
              <a:rect r="r" b="b" t="t" l="l"/>
              <a:pathLst>
                <a:path h="236669" w="1502502">
                  <a:moveTo>
                    <a:pt x="0" y="0"/>
                  </a:moveTo>
                  <a:lnTo>
                    <a:pt x="1502502" y="0"/>
                  </a:lnTo>
                  <a:lnTo>
                    <a:pt x="1502502" y="236669"/>
                  </a:lnTo>
                  <a:lnTo>
                    <a:pt x="0" y="236669"/>
                  </a:lnTo>
                  <a:close/>
                </a:path>
              </a:pathLst>
            </a:custGeom>
            <a:solidFill>
              <a:srgbClr val="FFFFFF"/>
            </a:solidFill>
            <a:ln cap="sq">
              <a:noFill/>
              <a:prstDash val="solid"/>
              <a:miter/>
            </a:ln>
          </p:spPr>
        </p:sp>
        <p:sp>
          <p:nvSpPr>
            <p:cNvPr name="TextBox 12" id="12"/>
            <p:cNvSpPr txBox="true"/>
            <p:nvPr/>
          </p:nvSpPr>
          <p:spPr>
            <a:xfrm>
              <a:off x="0" y="-38100"/>
              <a:ext cx="1502502"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363301" y="7098632"/>
            <a:ext cx="5855287" cy="898602"/>
            <a:chOff x="0" y="0"/>
            <a:chExt cx="1542133" cy="236669"/>
          </a:xfrm>
        </p:grpSpPr>
        <p:sp>
          <p:nvSpPr>
            <p:cNvPr name="Freeform 14" id="14"/>
            <p:cNvSpPr/>
            <p:nvPr/>
          </p:nvSpPr>
          <p:spPr>
            <a:xfrm flipH="false" flipV="false" rot="0">
              <a:off x="0" y="0"/>
              <a:ext cx="1542133" cy="236669"/>
            </a:xfrm>
            <a:custGeom>
              <a:avLst/>
              <a:gdLst/>
              <a:ahLst/>
              <a:cxnLst/>
              <a:rect r="r" b="b" t="t" l="l"/>
              <a:pathLst>
                <a:path h="236669" w="1542133">
                  <a:moveTo>
                    <a:pt x="0" y="0"/>
                  </a:moveTo>
                  <a:lnTo>
                    <a:pt x="1542133" y="0"/>
                  </a:lnTo>
                  <a:lnTo>
                    <a:pt x="1542133" y="236669"/>
                  </a:lnTo>
                  <a:lnTo>
                    <a:pt x="0" y="236669"/>
                  </a:lnTo>
                  <a:close/>
                </a:path>
              </a:pathLst>
            </a:custGeom>
            <a:solidFill>
              <a:srgbClr val="FFFFFF"/>
            </a:solidFill>
            <a:ln cap="sq">
              <a:noFill/>
              <a:prstDash val="solid"/>
              <a:miter/>
            </a:ln>
          </p:spPr>
        </p:sp>
        <p:sp>
          <p:nvSpPr>
            <p:cNvPr name="TextBox 15" id="15"/>
            <p:cNvSpPr txBox="true"/>
            <p:nvPr/>
          </p:nvSpPr>
          <p:spPr>
            <a:xfrm>
              <a:off x="0" y="-38100"/>
              <a:ext cx="154213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513776" y="3498783"/>
            <a:ext cx="5704813" cy="898602"/>
            <a:chOff x="0" y="0"/>
            <a:chExt cx="1502502" cy="236669"/>
          </a:xfrm>
        </p:grpSpPr>
        <p:sp>
          <p:nvSpPr>
            <p:cNvPr name="Freeform 17" id="17"/>
            <p:cNvSpPr/>
            <p:nvPr/>
          </p:nvSpPr>
          <p:spPr>
            <a:xfrm flipH="false" flipV="false" rot="0">
              <a:off x="0" y="0"/>
              <a:ext cx="1502502" cy="236669"/>
            </a:xfrm>
            <a:custGeom>
              <a:avLst/>
              <a:gdLst/>
              <a:ahLst/>
              <a:cxnLst/>
              <a:rect r="r" b="b" t="t" l="l"/>
              <a:pathLst>
                <a:path h="236669" w="1502502">
                  <a:moveTo>
                    <a:pt x="0" y="0"/>
                  </a:moveTo>
                  <a:lnTo>
                    <a:pt x="1502502" y="0"/>
                  </a:lnTo>
                  <a:lnTo>
                    <a:pt x="1502502" y="236669"/>
                  </a:lnTo>
                  <a:lnTo>
                    <a:pt x="0" y="236669"/>
                  </a:lnTo>
                  <a:close/>
                </a:path>
              </a:pathLst>
            </a:custGeom>
            <a:solidFill>
              <a:srgbClr val="FFFFFF"/>
            </a:solidFill>
            <a:ln cap="sq">
              <a:noFill/>
              <a:prstDash val="solid"/>
              <a:miter/>
            </a:ln>
          </p:spPr>
        </p:sp>
        <p:sp>
          <p:nvSpPr>
            <p:cNvPr name="TextBox 18" id="18"/>
            <p:cNvSpPr txBox="true"/>
            <p:nvPr/>
          </p:nvSpPr>
          <p:spPr>
            <a:xfrm>
              <a:off x="0" y="-38100"/>
              <a:ext cx="1502502"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363301" y="8286952"/>
            <a:ext cx="5855287" cy="898602"/>
            <a:chOff x="0" y="0"/>
            <a:chExt cx="1542133" cy="236669"/>
          </a:xfrm>
        </p:grpSpPr>
        <p:sp>
          <p:nvSpPr>
            <p:cNvPr name="Freeform 20" id="20"/>
            <p:cNvSpPr/>
            <p:nvPr/>
          </p:nvSpPr>
          <p:spPr>
            <a:xfrm flipH="false" flipV="false" rot="0">
              <a:off x="0" y="0"/>
              <a:ext cx="1542133" cy="236669"/>
            </a:xfrm>
            <a:custGeom>
              <a:avLst/>
              <a:gdLst/>
              <a:ahLst/>
              <a:cxnLst/>
              <a:rect r="r" b="b" t="t" l="l"/>
              <a:pathLst>
                <a:path h="236669" w="1542133">
                  <a:moveTo>
                    <a:pt x="0" y="0"/>
                  </a:moveTo>
                  <a:lnTo>
                    <a:pt x="1542133" y="0"/>
                  </a:lnTo>
                  <a:lnTo>
                    <a:pt x="1542133" y="236669"/>
                  </a:lnTo>
                  <a:lnTo>
                    <a:pt x="0" y="236669"/>
                  </a:lnTo>
                  <a:close/>
                </a:path>
              </a:pathLst>
            </a:custGeom>
            <a:solidFill>
              <a:srgbClr val="FFFFFF"/>
            </a:solidFill>
            <a:ln cap="sq">
              <a:noFill/>
              <a:prstDash val="solid"/>
              <a:miter/>
            </a:ln>
          </p:spPr>
        </p:sp>
        <p:sp>
          <p:nvSpPr>
            <p:cNvPr name="TextBox 21" id="21"/>
            <p:cNvSpPr txBox="true"/>
            <p:nvPr/>
          </p:nvSpPr>
          <p:spPr>
            <a:xfrm>
              <a:off x="0" y="-38100"/>
              <a:ext cx="154213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513776" y="4687103"/>
            <a:ext cx="5704813" cy="898602"/>
            <a:chOff x="0" y="0"/>
            <a:chExt cx="1502502" cy="236669"/>
          </a:xfrm>
        </p:grpSpPr>
        <p:sp>
          <p:nvSpPr>
            <p:cNvPr name="Freeform 23" id="23"/>
            <p:cNvSpPr/>
            <p:nvPr/>
          </p:nvSpPr>
          <p:spPr>
            <a:xfrm flipH="false" flipV="false" rot="0">
              <a:off x="0" y="0"/>
              <a:ext cx="1502502" cy="236669"/>
            </a:xfrm>
            <a:custGeom>
              <a:avLst/>
              <a:gdLst/>
              <a:ahLst/>
              <a:cxnLst/>
              <a:rect r="r" b="b" t="t" l="l"/>
              <a:pathLst>
                <a:path h="236669" w="1502502">
                  <a:moveTo>
                    <a:pt x="0" y="0"/>
                  </a:moveTo>
                  <a:lnTo>
                    <a:pt x="1502502" y="0"/>
                  </a:lnTo>
                  <a:lnTo>
                    <a:pt x="1502502" y="236669"/>
                  </a:lnTo>
                  <a:lnTo>
                    <a:pt x="0" y="236669"/>
                  </a:lnTo>
                  <a:close/>
                </a:path>
              </a:pathLst>
            </a:custGeom>
            <a:solidFill>
              <a:srgbClr val="FFFFFF"/>
            </a:solidFill>
            <a:ln cap="sq">
              <a:noFill/>
              <a:prstDash val="solid"/>
              <a:miter/>
            </a:ln>
          </p:spPr>
        </p:sp>
        <p:sp>
          <p:nvSpPr>
            <p:cNvPr name="TextBox 24" id="24"/>
            <p:cNvSpPr txBox="true"/>
            <p:nvPr/>
          </p:nvSpPr>
          <p:spPr>
            <a:xfrm>
              <a:off x="0" y="-38100"/>
              <a:ext cx="1502502" cy="274769"/>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1028700" y="1100284"/>
            <a:ext cx="929984" cy="929984"/>
          </a:xfrm>
          <a:custGeom>
            <a:avLst/>
            <a:gdLst/>
            <a:ahLst/>
            <a:cxnLst/>
            <a:rect r="r" b="b" t="t" l="l"/>
            <a:pathLst>
              <a:path h="929984" w="929984">
                <a:moveTo>
                  <a:pt x="0" y="0"/>
                </a:moveTo>
                <a:lnTo>
                  <a:pt x="929984" y="0"/>
                </a:lnTo>
                <a:lnTo>
                  <a:pt x="929984" y="929985"/>
                </a:lnTo>
                <a:lnTo>
                  <a:pt x="0" y="9299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6" id="26"/>
          <p:cNvSpPr txBox="true"/>
          <p:nvPr/>
        </p:nvSpPr>
        <p:spPr>
          <a:xfrm rot="0">
            <a:off x="2250512" y="1325921"/>
            <a:ext cx="4347300"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Faster communication</a:t>
            </a:r>
          </a:p>
        </p:txBody>
      </p:sp>
      <p:sp>
        <p:nvSpPr>
          <p:cNvPr name="TextBox 27" id="27"/>
          <p:cNvSpPr txBox="true"/>
          <p:nvPr/>
        </p:nvSpPr>
        <p:spPr>
          <a:xfrm rot="0">
            <a:off x="2304789" y="6097026"/>
            <a:ext cx="4554225"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Easy access to information</a:t>
            </a:r>
          </a:p>
        </p:txBody>
      </p:sp>
      <p:sp>
        <p:nvSpPr>
          <p:cNvPr name="TextBox 28" id="28"/>
          <p:cNvSpPr txBox="true"/>
          <p:nvPr/>
        </p:nvSpPr>
        <p:spPr>
          <a:xfrm rot="0">
            <a:off x="2304789" y="2514242"/>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Global connectivity</a:t>
            </a:r>
          </a:p>
        </p:txBody>
      </p:sp>
      <p:sp>
        <p:nvSpPr>
          <p:cNvPr name="TextBox 29" id="29"/>
          <p:cNvSpPr txBox="true"/>
          <p:nvPr/>
        </p:nvSpPr>
        <p:spPr>
          <a:xfrm rot="0">
            <a:off x="2304789" y="7285346"/>
            <a:ext cx="3608280"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Process automation</a:t>
            </a:r>
          </a:p>
        </p:txBody>
      </p:sp>
      <p:sp>
        <p:nvSpPr>
          <p:cNvPr name="TextBox 30" id="30"/>
          <p:cNvSpPr txBox="true"/>
          <p:nvPr/>
        </p:nvSpPr>
        <p:spPr>
          <a:xfrm rot="0">
            <a:off x="2304789" y="3702563"/>
            <a:ext cx="3785645"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Improved productivity</a:t>
            </a:r>
          </a:p>
        </p:txBody>
      </p:sp>
      <p:sp>
        <p:nvSpPr>
          <p:cNvPr name="TextBox 31" id="31"/>
          <p:cNvSpPr txBox="true"/>
          <p:nvPr/>
        </p:nvSpPr>
        <p:spPr>
          <a:xfrm rot="0">
            <a:off x="2304789" y="8473667"/>
            <a:ext cx="4554225"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Smarter decision-making</a:t>
            </a:r>
          </a:p>
        </p:txBody>
      </p:sp>
      <p:sp>
        <p:nvSpPr>
          <p:cNvPr name="TextBox 32" id="32"/>
          <p:cNvSpPr txBox="true"/>
          <p:nvPr/>
        </p:nvSpPr>
        <p:spPr>
          <a:xfrm rot="0">
            <a:off x="2304789" y="4890883"/>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Better collaboration</a:t>
            </a:r>
          </a:p>
        </p:txBody>
      </p:sp>
      <p:sp>
        <p:nvSpPr>
          <p:cNvPr name="Freeform 33" id="33"/>
          <p:cNvSpPr/>
          <p:nvPr/>
        </p:nvSpPr>
        <p:spPr>
          <a:xfrm flipH="false" flipV="false" rot="0">
            <a:off x="1028700" y="2311837"/>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4" id="34"/>
          <p:cNvSpPr/>
          <p:nvPr/>
        </p:nvSpPr>
        <p:spPr>
          <a:xfrm flipH="false" flipV="false" rot="0">
            <a:off x="1028700" y="3489258"/>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false" flipV="false" rot="0">
            <a:off x="1028700" y="4676417"/>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6" id="36"/>
          <p:cNvSpPr/>
          <p:nvPr/>
        </p:nvSpPr>
        <p:spPr>
          <a:xfrm flipH="false" flipV="false" rot="0">
            <a:off x="1028700" y="5901676"/>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7" id="37"/>
          <p:cNvSpPr/>
          <p:nvPr/>
        </p:nvSpPr>
        <p:spPr>
          <a:xfrm flipH="false" flipV="false" rot="0">
            <a:off x="1028700" y="7079310"/>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8" id="38"/>
          <p:cNvSpPr/>
          <p:nvPr/>
        </p:nvSpPr>
        <p:spPr>
          <a:xfrm flipH="false" flipV="false" rot="0">
            <a:off x="1028700" y="8256731"/>
            <a:ext cx="929984" cy="929984"/>
          </a:xfrm>
          <a:custGeom>
            <a:avLst/>
            <a:gdLst/>
            <a:ahLst/>
            <a:cxnLst/>
            <a:rect r="r" b="b" t="t" l="l"/>
            <a:pathLst>
              <a:path h="929984" w="929984">
                <a:moveTo>
                  <a:pt x="0" y="0"/>
                </a:moveTo>
                <a:lnTo>
                  <a:pt x="929984" y="0"/>
                </a:lnTo>
                <a:lnTo>
                  <a:pt x="929984" y="929985"/>
                </a:lnTo>
                <a:lnTo>
                  <a:pt x="0" y="9299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9" id="39"/>
          <p:cNvSpPr/>
          <p:nvPr/>
        </p:nvSpPr>
        <p:spPr>
          <a:xfrm flipH="false" flipV="false" rot="0">
            <a:off x="7840721" y="-18557"/>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0" id="40"/>
          <p:cNvSpPr/>
          <p:nvPr/>
        </p:nvSpPr>
        <p:spPr>
          <a:xfrm flipH="false" flipV="true" rot="0">
            <a:off x="7840721" y="7491251"/>
            <a:ext cx="13774294" cy="2460945"/>
          </a:xfrm>
          <a:custGeom>
            <a:avLst/>
            <a:gdLst/>
            <a:ahLst/>
            <a:cxnLst/>
            <a:rect r="r" b="b" t="t" l="l"/>
            <a:pathLst>
              <a:path h="2460945" w="13774294">
                <a:moveTo>
                  <a:pt x="0" y="2460945"/>
                </a:moveTo>
                <a:lnTo>
                  <a:pt x="13774294" y="2460945"/>
                </a:lnTo>
                <a:lnTo>
                  <a:pt x="13774294" y="0"/>
                </a:lnTo>
                <a:lnTo>
                  <a:pt x="0" y="0"/>
                </a:lnTo>
                <a:lnTo>
                  <a:pt x="0" y="246094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1" id="41"/>
          <p:cNvSpPr/>
          <p:nvPr/>
        </p:nvSpPr>
        <p:spPr>
          <a:xfrm flipH="true" flipV="true" rot="-5400000">
            <a:off x="16700645" y="2962360"/>
            <a:ext cx="4080137" cy="3894676"/>
          </a:xfrm>
          <a:custGeom>
            <a:avLst/>
            <a:gdLst/>
            <a:ahLst/>
            <a:cxnLst/>
            <a:rect r="r" b="b" t="t" l="l"/>
            <a:pathLst>
              <a:path h="3894676" w="4080137">
                <a:moveTo>
                  <a:pt x="4080137" y="3894676"/>
                </a:moveTo>
                <a:lnTo>
                  <a:pt x="0" y="3894676"/>
                </a:lnTo>
                <a:lnTo>
                  <a:pt x="0" y="0"/>
                </a:lnTo>
                <a:lnTo>
                  <a:pt x="4080137" y="0"/>
                </a:lnTo>
                <a:lnTo>
                  <a:pt x="4080137" y="3894676"/>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1377616" y="2834454"/>
            <a:ext cx="8674931" cy="8674931"/>
          </a:xfrm>
          <a:custGeom>
            <a:avLst/>
            <a:gdLst/>
            <a:ahLst/>
            <a:cxnLst/>
            <a:rect r="r" b="b" t="t" l="l"/>
            <a:pathLst>
              <a:path h="8674931" w="8674931">
                <a:moveTo>
                  <a:pt x="0" y="0"/>
                </a:moveTo>
                <a:lnTo>
                  <a:pt x="8674931" y="0"/>
                </a:lnTo>
                <a:lnTo>
                  <a:pt x="8674931" y="8674931"/>
                </a:lnTo>
                <a:lnTo>
                  <a:pt x="0" y="8674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305237" y="4015168"/>
            <a:ext cx="7078857" cy="6313503"/>
            <a:chOff x="0" y="0"/>
            <a:chExt cx="1101324" cy="982250"/>
          </a:xfrm>
        </p:grpSpPr>
        <p:sp>
          <p:nvSpPr>
            <p:cNvPr name="Freeform 5" id="5"/>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5"/>
              <a:stretch>
                <a:fillRect l="-16830" t="0" r="-16830" b="0"/>
              </a:stretch>
            </a:blipFill>
            <a:ln w="38100" cap="sq">
              <a:solidFill>
                <a:srgbClr val="FFFFFF"/>
              </a:solidFill>
              <a:prstDash val="solid"/>
              <a:miter/>
            </a:ln>
          </p:spPr>
        </p:sp>
      </p:grpSp>
      <p:sp>
        <p:nvSpPr>
          <p:cNvPr name="Freeform 6" id="6"/>
          <p:cNvSpPr/>
          <p:nvPr/>
        </p:nvSpPr>
        <p:spPr>
          <a:xfrm flipH="true" flipV="true" rot="-5400000">
            <a:off x="14706214" y="-1799506"/>
            <a:ext cx="4080137" cy="3894676"/>
          </a:xfrm>
          <a:custGeom>
            <a:avLst/>
            <a:gdLst/>
            <a:ahLst/>
            <a:cxnLst/>
            <a:rect r="r" b="b" t="t" l="l"/>
            <a:pathLst>
              <a:path h="3894676" w="4080137">
                <a:moveTo>
                  <a:pt x="4080137" y="3894676"/>
                </a:moveTo>
                <a:lnTo>
                  <a:pt x="0" y="3894676"/>
                </a:lnTo>
                <a:lnTo>
                  <a:pt x="0" y="0"/>
                </a:lnTo>
                <a:lnTo>
                  <a:pt x="4080137" y="0"/>
                </a:lnTo>
                <a:lnTo>
                  <a:pt x="4080137" y="3894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302929" y="-949160"/>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7713846" y="1962632"/>
            <a:ext cx="9566961" cy="1925540"/>
          </a:xfrm>
          <a:prstGeom prst="rect">
            <a:avLst/>
          </a:prstGeom>
        </p:spPr>
        <p:txBody>
          <a:bodyPr anchor="t" rtlCol="false" tIns="0" lIns="0" bIns="0" rIns="0">
            <a:spAutoFit/>
          </a:bodyPr>
          <a:lstStyle/>
          <a:p>
            <a:pPr algn="l">
              <a:lnSpc>
                <a:spcPts val="7045"/>
              </a:lnSpc>
            </a:pPr>
            <a:r>
              <a:rPr lang="en-US" sz="8918">
                <a:solidFill>
                  <a:srgbClr val="FFFFFF"/>
                </a:solidFill>
                <a:latin typeface="Adriana"/>
                <a:ea typeface="Adriana"/>
                <a:cs typeface="Adriana"/>
                <a:sym typeface="Adriana"/>
              </a:rPr>
              <a:t>ARTIFICIAL INTELLIGENCE</a:t>
            </a:r>
          </a:p>
        </p:txBody>
      </p:sp>
      <p:sp>
        <p:nvSpPr>
          <p:cNvPr name="TextBox 9" id="9"/>
          <p:cNvSpPr txBox="true"/>
          <p:nvPr/>
        </p:nvSpPr>
        <p:spPr>
          <a:xfrm rot="0">
            <a:off x="7713846" y="3958018"/>
            <a:ext cx="9368089" cy="4523374"/>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p>
        </p:txBody>
      </p:sp>
      <p:sp>
        <p:nvSpPr>
          <p:cNvPr name="Freeform 10" id="10"/>
          <p:cNvSpPr/>
          <p:nvPr/>
        </p:nvSpPr>
        <p:spPr>
          <a:xfrm flipH="false" flipV="false" rot="0">
            <a:off x="7521662" y="8414161"/>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graphicFrame>
        <p:nvGraphicFramePr>
          <p:cNvPr name="Table 3" id="3"/>
          <p:cNvGraphicFramePr>
            <a:graphicFrameLocks noGrp="true"/>
          </p:cNvGraphicFramePr>
          <p:nvPr/>
        </p:nvGraphicFramePr>
        <p:xfrm>
          <a:off x="2958953" y="3263731"/>
          <a:ext cx="12370095" cy="5736310"/>
        </p:xfrm>
        <a:graphic>
          <a:graphicData uri="http://schemas.openxmlformats.org/drawingml/2006/table">
            <a:tbl>
              <a:tblPr/>
              <a:tblGrid>
                <a:gridCol w="6185047"/>
                <a:gridCol w="6185047"/>
              </a:tblGrid>
              <a:tr h="1229627">
                <a:tc>
                  <a:txBody>
                    <a:bodyPr anchor="t" rtlCol="false"/>
                    <a:lstStyle/>
                    <a:p>
                      <a:pPr algn="ctr">
                        <a:lnSpc>
                          <a:spcPts val="2659"/>
                        </a:lnSpc>
                        <a:defRPr/>
                      </a:pPr>
                      <a:r>
                        <a:rPr lang="en-US" b="true" sz="1899">
                          <a:solidFill>
                            <a:srgbClr val="041636"/>
                          </a:solidFill>
                          <a:latin typeface="Poppins Bold"/>
                          <a:ea typeface="Poppins Bold"/>
                          <a:cs typeface="Poppins Bold"/>
                          <a:sym typeface="Poppins Bold"/>
                        </a:rPr>
                        <a:t>TRADITIONAL TECHNOLOGY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b="true" sz="1899">
                          <a:solidFill>
                            <a:srgbClr val="041636"/>
                          </a:solidFill>
                          <a:latin typeface="Poppins Bold"/>
                          <a:ea typeface="Poppins Bold"/>
                          <a:cs typeface="Poppins Bold"/>
                          <a:sym typeface="Poppins Bold"/>
                        </a:rPr>
                        <a:t>MODERN TECHNOLOGY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FFFFF"/>
                    </a:solidFill>
                  </a:tcPr>
                </a:tc>
              </a:tr>
              <a:tr h="901337">
                <a:tc>
                  <a:txBody>
                    <a:bodyPr anchor="t" rtlCol="false"/>
                    <a:lstStyle/>
                    <a:p>
                      <a:pPr algn="ctr">
                        <a:lnSpc>
                          <a:spcPts val="2659"/>
                        </a:lnSpc>
                        <a:defRPr/>
                      </a:pPr>
                      <a:r>
                        <a:rPr lang="en-US" sz="1899">
                          <a:solidFill>
                            <a:srgbClr val="FFFFFF"/>
                          </a:solidFill>
                          <a:latin typeface="Poppins"/>
                          <a:ea typeface="Poppins"/>
                          <a:cs typeface="Poppins"/>
                          <a:sym typeface="Poppins"/>
                        </a:rPr>
                        <a:t>Manual processes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Automated workflows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1337">
                <a:tc>
                  <a:txBody>
                    <a:bodyPr anchor="t" rtlCol="false"/>
                    <a:lstStyle/>
                    <a:p>
                      <a:pPr algn="ctr">
                        <a:lnSpc>
                          <a:spcPts val="2659"/>
                        </a:lnSpc>
                        <a:defRPr/>
                      </a:pPr>
                      <a:r>
                        <a:rPr lang="en-US" sz="1899">
                          <a:solidFill>
                            <a:srgbClr val="FFFFFF"/>
                          </a:solidFill>
                          <a:latin typeface="Poppins"/>
                          <a:ea typeface="Poppins"/>
                          <a:cs typeface="Poppins"/>
                          <a:sym typeface="Poppins"/>
                        </a:rPr>
                        <a:t>Limited connectivity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Global connectivity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1337">
                <a:tc>
                  <a:txBody>
                    <a:bodyPr anchor="t" rtlCol="false"/>
                    <a:lstStyle/>
                    <a:p>
                      <a:pPr algn="ctr">
                        <a:lnSpc>
                          <a:spcPts val="2659"/>
                        </a:lnSpc>
                        <a:defRPr/>
                      </a:pPr>
                      <a:r>
                        <a:rPr lang="en-US" sz="1899">
                          <a:solidFill>
                            <a:srgbClr val="FFFFFF"/>
                          </a:solidFill>
                          <a:latin typeface="Poppins"/>
                          <a:ea typeface="Poppins"/>
                          <a:cs typeface="Poppins"/>
                          <a:sym typeface="Poppins"/>
                        </a:rPr>
                        <a:t>Physical storage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Cloud storage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1337">
                <a:tc>
                  <a:txBody>
                    <a:bodyPr anchor="t" rtlCol="false"/>
                    <a:lstStyle/>
                    <a:p>
                      <a:pPr algn="ctr">
                        <a:lnSpc>
                          <a:spcPts val="2659"/>
                        </a:lnSpc>
                        <a:defRPr/>
                      </a:pPr>
                      <a:r>
                        <a:rPr lang="en-US" sz="1899">
                          <a:solidFill>
                            <a:srgbClr val="FFFFFF"/>
                          </a:solidFill>
                          <a:latin typeface="Poppins"/>
                          <a:ea typeface="Poppins"/>
                          <a:cs typeface="Poppins"/>
                          <a:sym typeface="Poppins"/>
                        </a:rPr>
                        <a:t>Slower communication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Instant communication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01337">
                <a:tc>
                  <a:txBody>
                    <a:bodyPr anchor="t" rtlCol="false"/>
                    <a:lstStyle/>
                    <a:p>
                      <a:pPr algn="ctr">
                        <a:lnSpc>
                          <a:spcPts val="2659"/>
                        </a:lnSpc>
                        <a:defRPr/>
                      </a:pPr>
                      <a:r>
                        <a:rPr lang="en-US" sz="1899">
                          <a:solidFill>
                            <a:srgbClr val="FFFFFF"/>
                          </a:solidFill>
                          <a:latin typeface="Poppins"/>
                          <a:ea typeface="Poppins"/>
                          <a:cs typeface="Poppins"/>
                          <a:sym typeface="Poppins"/>
                        </a:rPr>
                        <a:t>Fixed infrastructure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Scalable cloud services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4" id="4"/>
          <p:cNvSpPr txBox="true"/>
          <p:nvPr/>
        </p:nvSpPr>
        <p:spPr>
          <a:xfrm rot="0">
            <a:off x="1478507" y="1323975"/>
            <a:ext cx="15330986" cy="1748765"/>
          </a:xfrm>
          <a:prstGeom prst="rect">
            <a:avLst/>
          </a:prstGeom>
        </p:spPr>
        <p:txBody>
          <a:bodyPr anchor="t" rtlCol="false" tIns="0" lIns="0" bIns="0" rIns="0">
            <a:spAutoFit/>
          </a:bodyPr>
          <a:lstStyle/>
          <a:p>
            <a:pPr algn="ctr">
              <a:lnSpc>
                <a:spcPts val="6444"/>
              </a:lnSpc>
            </a:pPr>
            <a:r>
              <a:rPr lang="en-US" sz="8158">
                <a:solidFill>
                  <a:srgbClr val="FFFFFF"/>
                </a:solidFill>
                <a:latin typeface="Adriana"/>
                <a:ea typeface="Adriana"/>
                <a:cs typeface="Adriana"/>
                <a:sym typeface="Adriana"/>
              </a:rPr>
              <a:t>TRADITIONAL VS MODERN TECHNOLOGY</a:t>
            </a:r>
          </a:p>
        </p:txBody>
      </p:sp>
      <p:sp>
        <p:nvSpPr>
          <p:cNvPr name="Freeform 5" id="5"/>
          <p:cNvSpPr/>
          <p:nvPr/>
        </p:nvSpPr>
        <p:spPr>
          <a:xfrm flipH="false" flipV="false" rot="0">
            <a:off x="9144000" y="-1432245"/>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858447" y="9258300"/>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10801428" y="3041380"/>
            <a:ext cx="8674931" cy="8674931"/>
          </a:xfrm>
          <a:custGeom>
            <a:avLst/>
            <a:gdLst/>
            <a:ahLst/>
            <a:cxnLst/>
            <a:rect r="r" b="b" t="t" l="l"/>
            <a:pathLst>
              <a:path h="8674931" w="8674931">
                <a:moveTo>
                  <a:pt x="0" y="0"/>
                </a:moveTo>
                <a:lnTo>
                  <a:pt x="8674931" y="0"/>
                </a:lnTo>
                <a:lnTo>
                  <a:pt x="8674931" y="8674930"/>
                </a:lnTo>
                <a:lnTo>
                  <a:pt x="0" y="8674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1873808" y="4222094"/>
            <a:ext cx="7078857" cy="6313503"/>
            <a:chOff x="0" y="0"/>
            <a:chExt cx="1101324" cy="982250"/>
          </a:xfrm>
        </p:grpSpPr>
        <p:sp>
          <p:nvSpPr>
            <p:cNvPr name="Freeform 5" id="5"/>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5"/>
              <a:stretch>
                <a:fillRect l="-16830" t="0" r="-16830" b="0"/>
              </a:stretch>
            </a:blipFill>
            <a:ln w="38100" cap="sq">
              <a:solidFill>
                <a:srgbClr val="FFFFFF"/>
              </a:solidFill>
              <a:prstDash val="solid"/>
              <a:miter/>
            </a:ln>
          </p:spPr>
        </p:sp>
      </p:grpSp>
      <p:sp>
        <p:nvSpPr>
          <p:cNvPr name="Freeform 6" id="6"/>
          <p:cNvSpPr/>
          <p:nvPr/>
        </p:nvSpPr>
        <p:spPr>
          <a:xfrm flipH="true" flipV="true" rot="-5400000">
            <a:off x="13937634" y="-1474338"/>
            <a:ext cx="4080137" cy="3894676"/>
          </a:xfrm>
          <a:custGeom>
            <a:avLst/>
            <a:gdLst/>
            <a:ahLst/>
            <a:cxnLst/>
            <a:rect r="r" b="b" t="t" l="l"/>
            <a:pathLst>
              <a:path h="3894676" w="4080137">
                <a:moveTo>
                  <a:pt x="4080137" y="3894676"/>
                </a:moveTo>
                <a:lnTo>
                  <a:pt x="0" y="3894676"/>
                </a:lnTo>
                <a:lnTo>
                  <a:pt x="0" y="0"/>
                </a:lnTo>
                <a:lnTo>
                  <a:pt x="4080137" y="0"/>
                </a:lnTo>
                <a:lnTo>
                  <a:pt x="4080137" y="3894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302929" y="-949160"/>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012960" y="2119747"/>
            <a:ext cx="13017404" cy="1158119"/>
          </a:xfrm>
          <a:prstGeom prst="rect">
            <a:avLst/>
          </a:prstGeom>
        </p:spPr>
        <p:txBody>
          <a:bodyPr anchor="t" rtlCol="false" tIns="0" lIns="0" bIns="0" rIns="0">
            <a:spAutoFit/>
          </a:bodyPr>
          <a:lstStyle/>
          <a:p>
            <a:pPr algn="l">
              <a:lnSpc>
                <a:spcPts val="7942"/>
              </a:lnSpc>
            </a:pPr>
            <a:r>
              <a:rPr lang="en-US" sz="10053">
                <a:solidFill>
                  <a:srgbClr val="FFFFFF"/>
                </a:solidFill>
                <a:latin typeface="Adriana"/>
                <a:ea typeface="Adriana"/>
                <a:cs typeface="Adriana"/>
                <a:sym typeface="Adriana"/>
              </a:rPr>
              <a:t>CYBERSECURITY</a:t>
            </a:r>
          </a:p>
        </p:txBody>
      </p:sp>
      <p:sp>
        <p:nvSpPr>
          <p:cNvPr name="TextBox 9" id="9"/>
          <p:cNvSpPr txBox="true"/>
          <p:nvPr/>
        </p:nvSpPr>
        <p:spPr>
          <a:xfrm rot="0">
            <a:off x="1028700" y="3220716"/>
            <a:ext cx="9368089" cy="2466543"/>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Big Data helps organizations analyze massive amounts ofCybersecurity protects digital systems, networks, and sensitive information from cyber threats by using secure technologies, awareness, and continuous monitoring information to identify trends, improve decisions, optimize operations, and create better customer experiences</a:t>
            </a:r>
          </a:p>
        </p:txBody>
      </p:sp>
      <p:sp>
        <p:nvSpPr>
          <p:cNvPr name="Freeform 10" id="10"/>
          <p:cNvSpPr/>
          <p:nvPr/>
        </p:nvSpPr>
        <p:spPr>
          <a:xfrm flipH="false" flipV="false" rot="0">
            <a:off x="-3377504" y="8307963"/>
            <a:ext cx="13774294" cy="2460945"/>
          </a:xfrm>
          <a:custGeom>
            <a:avLst/>
            <a:gdLst/>
            <a:ahLst/>
            <a:cxnLst/>
            <a:rect r="r" b="b" t="t" l="l"/>
            <a:pathLst>
              <a:path h="2460945" w="13774294">
                <a:moveTo>
                  <a:pt x="0" y="0"/>
                </a:moveTo>
                <a:lnTo>
                  <a:pt x="13774293" y="0"/>
                </a:lnTo>
                <a:lnTo>
                  <a:pt x="13774293" y="2460945"/>
                </a:lnTo>
                <a:lnTo>
                  <a:pt x="0" y="24609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true" rot="-10800000">
            <a:off x="8551531" y="5687259"/>
            <a:ext cx="2607291" cy="2488778"/>
          </a:xfrm>
          <a:custGeom>
            <a:avLst/>
            <a:gdLst/>
            <a:ahLst/>
            <a:cxnLst/>
            <a:rect r="r" b="b" t="t" l="l"/>
            <a:pathLst>
              <a:path h="2488778" w="2607291">
                <a:moveTo>
                  <a:pt x="2607290" y="2488777"/>
                </a:moveTo>
                <a:lnTo>
                  <a:pt x="0" y="2488777"/>
                </a:lnTo>
                <a:lnTo>
                  <a:pt x="0" y="0"/>
                </a:lnTo>
                <a:lnTo>
                  <a:pt x="2607290" y="0"/>
                </a:lnTo>
                <a:lnTo>
                  <a:pt x="2607290" y="2488777"/>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5400000">
            <a:off x="-4973382" y="1982090"/>
            <a:ext cx="6574638" cy="6275790"/>
          </a:xfrm>
          <a:custGeom>
            <a:avLst/>
            <a:gdLst/>
            <a:ahLst/>
            <a:cxnLst/>
            <a:rect r="r" b="b" t="t" l="l"/>
            <a:pathLst>
              <a:path h="6275790" w="6574638">
                <a:moveTo>
                  <a:pt x="6574638" y="6275791"/>
                </a:moveTo>
                <a:lnTo>
                  <a:pt x="0" y="6275791"/>
                </a:lnTo>
                <a:lnTo>
                  <a:pt x="0" y="0"/>
                </a:lnTo>
                <a:lnTo>
                  <a:pt x="6574638" y="0"/>
                </a:lnTo>
                <a:lnTo>
                  <a:pt x="6574638" y="627579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58639" y="4613210"/>
            <a:ext cx="9049725" cy="1700651"/>
          </a:xfrm>
          <a:prstGeom prst="rect">
            <a:avLst/>
          </a:prstGeom>
        </p:spPr>
        <p:txBody>
          <a:bodyPr anchor="t" rtlCol="false" tIns="0" lIns="0" bIns="0" rIns="0">
            <a:spAutoFit/>
          </a:bodyPr>
          <a:lstStyle/>
          <a:p>
            <a:pPr algn="l">
              <a:lnSpc>
                <a:spcPts val="6293"/>
              </a:lnSpc>
            </a:pPr>
            <a:r>
              <a:rPr lang="en-US" sz="7966">
                <a:solidFill>
                  <a:srgbClr val="FFFFFF"/>
                </a:solidFill>
                <a:latin typeface="Adriana"/>
                <a:ea typeface="Adriana"/>
                <a:cs typeface="Adriana"/>
                <a:sym typeface="Adriana"/>
              </a:rPr>
              <a:t>EMERGING TECHNOLOGIES</a:t>
            </a:r>
          </a:p>
        </p:txBody>
      </p:sp>
      <p:grpSp>
        <p:nvGrpSpPr>
          <p:cNvPr name="Group 5" id="5"/>
          <p:cNvGrpSpPr/>
          <p:nvPr/>
        </p:nvGrpSpPr>
        <p:grpSpPr>
          <a:xfrm rot="0">
            <a:off x="11020386" y="1088657"/>
            <a:ext cx="5099990" cy="898602"/>
            <a:chOff x="0" y="0"/>
            <a:chExt cx="1343207" cy="236669"/>
          </a:xfrm>
        </p:grpSpPr>
        <p:sp>
          <p:nvSpPr>
            <p:cNvPr name="Freeform 6" id="6"/>
            <p:cNvSpPr/>
            <p:nvPr/>
          </p:nvSpPr>
          <p:spPr>
            <a:xfrm flipH="false" flipV="false" rot="0">
              <a:off x="0" y="0"/>
              <a:ext cx="1343207" cy="236669"/>
            </a:xfrm>
            <a:custGeom>
              <a:avLst/>
              <a:gdLst/>
              <a:ahLst/>
              <a:cxnLst/>
              <a:rect r="r" b="b" t="t" l="l"/>
              <a:pathLst>
                <a:path h="236669" w="1343207">
                  <a:moveTo>
                    <a:pt x="0" y="0"/>
                  </a:moveTo>
                  <a:lnTo>
                    <a:pt x="1343207" y="0"/>
                  </a:lnTo>
                  <a:lnTo>
                    <a:pt x="1343207" y="236669"/>
                  </a:lnTo>
                  <a:lnTo>
                    <a:pt x="0" y="236669"/>
                  </a:lnTo>
                  <a:close/>
                </a:path>
              </a:pathLst>
            </a:custGeom>
            <a:solidFill>
              <a:srgbClr val="FFFFFF"/>
            </a:solidFill>
            <a:ln cap="sq">
              <a:noFill/>
              <a:prstDash val="solid"/>
              <a:miter/>
            </a:ln>
          </p:spPr>
        </p:sp>
        <p:sp>
          <p:nvSpPr>
            <p:cNvPr name="TextBox 7" id="7"/>
            <p:cNvSpPr txBox="true"/>
            <p:nvPr/>
          </p:nvSpPr>
          <p:spPr>
            <a:xfrm>
              <a:off x="0" y="-38100"/>
              <a:ext cx="134320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885865" y="5876827"/>
            <a:ext cx="5234510" cy="898602"/>
            <a:chOff x="0" y="0"/>
            <a:chExt cx="1378636" cy="236669"/>
          </a:xfrm>
        </p:grpSpPr>
        <p:sp>
          <p:nvSpPr>
            <p:cNvPr name="Freeform 9" id="9"/>
            <p:cNvSpPr/>
            <p:nvPr/>
          </p:nvSpPr>
          <p:spPr>
            <a:xfrm flipH="false" flipV="false" rot="0">
              <a:off x="0" y="0"/>
              <a:ext cx="1378636" cy="236669"/>
            </a:xfrm>
            <a:custGeom>
              <a:avLst/>
              <a:gdLst/>
              <a:ahLst/>
              <a:cxnLst/>
              <a:rect r="r" b="b" t="t" l="l"/>
              <a:pathLst>
                <a:path h="236669" w="1378636">
                  <a:moveTo>
                    <a:pt x="0" y="0"/>
                  </a:moveTo>
                  <a:lnTo>
                    <a:pt x="1378636" y="0"/>
                  </a:lnTo>
                  <a:lnTo>
                    <a:pt x="1378636" y="236669"/>
                  </a:lnTo>
                  <a:lnTo>
                    <a:pt x="0" y="236669"/>
                  </a:lnTo>
                  <a:close/>
                </a:path>
              </a:pathLst>
            </a:custGeom>
            <a:solidFill>
              <a:srgbClr val="FFFFFF"/>
            </a:solidFill>
            <a:ln cap="sq">
              <a:noFill/>
              <a:prstDash val="solid"/>
              <a:miter/>
            </a:ln>
          </p:spPr>
        </p:sp>
        <p:sp>
          <p:nvSpPr>
            <p:cNvPr name="TextBox 10" id="10"/>
            <p:cNvSpPr txBox="true"/>
            <p:nvPr/>
          </p:nvSpPr>
          <p:spPr>
            <a:xfrm>
              <a:off x="0" y="-38100"/>
              <a:ext cx="1378636"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020386" y="2276978"/>
            <a:ext cx="5099990" cy="898602"/>
            <a:chOff x="0" y="0"/>
            <a:chExt cx="1343207" cy="236669"/>
          </a:xfrm>
        </p:grpSpPr>
        <p:sp>
          <p:nvSpPr>
            <p:cNvPr name="Freeform 12" id="12"/>
            <p:cNvSpPr/>
            <p:nvPr/>
          </p:nvSpPr>
          <p:spPr>
            <a:xfrm flipH="false" flipV="false" rot="0">
              <a:off x="0" y="0"/>
              <a:ext cx="1343207" cy="236669"/>
            </a:xfrm>
            <a:custGeom>
              <a:avLst/>
              <a:gdLst/>
              <a:ahLst/>
              <a:cxnLst/>
              <a:rect r="r" b="b" t="t" l="l"/>
              <a:pathLst>
                <a:path h="236669" w="1343207">
                  <a:moveTo>
                    <a:pt x="0" y="0"/>
                  </a:moveTo>
                  <a:lnTo>
                    <a:pt x="1343207" y="0"/>
                  </a:lnTo>
                  <a:lnTo>
                    <a:pt x="1343207" y="236669"/>
                  </a:lnTo>
                  <a:lnTo>
                    <a:pt x="0" y="236669"/>
                  </a:lnTo>
                  <a:close/>
                </a:path>
              </a:pathLst>
            </a:custGeom>
            <a:solidFill>
              <a:srgbClr val="FFFFFF"/>
            </a:solidFill>
            <a:ln cap="sq">
              <a:noFill/>
              <a:prstDash val="solid"/>
              <a:miter/>
            </a:ln>
          </p:spPr>
        </p:sp>
        <p:sp>
          <p:nvSpPr>
            <p:cNvPr name="TextBox 13" id="13"/>
            <p:cNvSpPr txBox="true"/>
            <p:nvPr/>
          </p:nvSpPr>
          <p:spPr>
            <a:xfrm>
              <a:off x="0" y="-38100"/>
              <a:ext cx="134320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0885865" y="7065148"/>
            <a:ext cx="5234510" cy="898602"/>
            <a:chOff x="0" y="0"/>
            <a:chExt cx="1378636" cy="236669"/>
          </a:xfrm>
        </p:grpSpPr>
        <p:sp>
          <p:nvSpPr>
            <p:cNvPr name="Freeform 15" id="15"/>
            <p:cNvSpPr/>
            <p:nvPr/>
          </p:nvSpPr>
          <p:spPr>
            <a:xfrm flipH="false" flipV="false" rot="0">
              <a:off x="0" y="0"/>
              <a:ext cx="1378636" cy="236669"/>
            </a:xfrm>
            <a:custGeom>
              <a:avLst/>
              <a:gdLst/>
              <a:ahLst/>
              <a:cxnLst/>
              <a:rect r="r" b="b" t="t" l="l"/>
              <a:pathLst>
                <a:path h="236669" w="1378636">
                  <a:moveTo>
                    <a:pt x="0" y="0"/>
                  </a:moveTo>
                  <a:lnTo>
                    <a:pt x="1378636" y="0"/>
                  </a:lnTo>
                  <a:lnTo>
                    <a:pt x="1378636" y="236669"/>
                  </a:lnTo>
                  <a:lnTo>
                    <a:pt x="0" y="236669"/>
                  </a:lnTo>
                  <a:close/>
                </a:path>
              </a:pathLst>
            </a:custGeom>
            <a:solidFill>
              <a:srgbClr val="FFFFFF"/>
            </a:solidFill>
            <a:ln cap="sq">
              <a:noFill/>
              <a:prstDash val="solid"/>
              <a:miter/>
            </a:ln>
          </p:spPr>
        </p:sp>
        <p:sp>
          <p:nvSpPr>
            <p:cNvPr name="TextBox 16" id="16"/>
            <p:cNvSpPr txBox="true"/>
            <p:nvPr/>
          </p:nvSpPr>
          <p:spPr>
            <a:xfrm>
              <a:off x="0" y="-38100"/>
              <a:ext cx="1378636"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1020386" y="3465299"/>
            <a:ext cx="5099990" cy="898602"/>
            <a:chOff x="0" y="0"/>
            <a:chExt cx="1343207" cy="236669"/>
          </a:xfrm>
        </p:grpSpPr>
        <p:sp>
          <p:nvSpPr>
            <p:cNvPr name="Freeform 18" id="18"/>
            <p:cNvSpPr/>
            <p:nvPr/>
          </p:nvSpPr>
          <p:spPr>
            <a:xfrm flipH="false" flipV="false" rot="0">
              <a:off x="0" y="0"/>
              <a:ext cx="1343207" cy="236669"/>
            </a:xfrm>
            <a:custGeom>
              <a:avLst/>
              <a:gdLst/>
              <a:ahLst/>
              <a:cxnLst/>
              <a:rect r="r" b="b" t="t" l="l"/>
              <a:pathLst>
                <a:path h="236669" w="1343207">
                  <a:moveTo>
                    <a:pt x="0" y="0"/>
                  </a:moveTo>
                  <a:lnTo>
                    <a:pt x="1343207" y="0"/>
                  </a:lnTo>
                  <a:lnTo>
                    <a:pt x="1343207" y="236669"/>
                  </a:lnTo>
                  <a:lnTo>
                    <a:pt x="0" y="236669"/>
                  </a:lnTo>
                  <a:close/>
                </a:path>
              </a:pathLst>
            </a:custGeom>
            <a:solidFill>
              <a:srgbClr val="FFFFFF"/>
            </a:solidFill>
            <a:ln cap="sq">
              <a:noFill/>
              <a:prstDash val="solid"/>
              <a:miter/>
            </a:ln>
          </p:spPr>
        </p:sp>
        <p:sp>
          <p:nvSpPr>
            <p:cNvPr name="TextBox 19" id="19"/>
            <p:cNvSpPr txBox="true"/>
            <p:nvPr/>
          </p:nvSpPr>
          <p:spPr>
            <a:xfrm>
              <a:off x="0" y="-38100"/>
              <a:ext cx="134320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0885865" y="8253468"/>
            <a:ext cx="5234510" cy="898602"/>
            <a:chOff x="0" y="0"/>
            <a:chExt cx="1378636" cy="236669"/>
          </a:xfrm>
        </p:grpSpPr>
        <p:sp>
          <p:nvSpPr>
            <p:cNvPr name="Freeform 21" id="21"/>
            <p:cNvSpPr/>
            <p:nvPr/>
          </p:nvSpPr>
          <p:spPr>
            <a:xfrm flipH="false" flipV="false" rot="0">
              <a:off x="0" y="0"/>
              <a:ext cx="1378636" cy="236669"/>
            </a:xfrm>
            <a:custGeom>
              <a:avLst/>
              <a:gdLst/>
              <a:ahLst/>
              <a:cxnLst/>
              <a:rect r="r" b="b" t="t" l="l"/>
              <a:pathLst>
                <a:path h="236669" w="1378636">
                  <a:moveTo>
                    <a:pt x="0" y="0"/>
                  </a:moveTo>
                  <a:lnTo>
                    <a:pt x="1378636" y="0"/>
                  </a:lnTo>
                  <a:lnTo>
                    <a:pt x="1378636" y="236669"/>
                  </a:lnTo>
                  <a:lnTo>
                    <a:pt x="0" y="236669"/>
                  </a:lnTo>
                  <a:close/>
                </a:path>
              </a:pathLst>
            </a:custGeom>
            <a:solidFill>
              <a:srgbClr val="FFFFFF"/>
            </a:solidFill>
            <a:ln cap="sq">
              <a:noFill/>
              <a:prstDash val="solid"/>
              <a:miter/>
            </a:ln>
          </p:spPr>
        </p:sp>
        <p:sp>
          <p:nvSpPr>
            <p:cNvPr name="TextBox 22" id="22"/>
            <p:cNvSpPr txBox="true"/>
            <p:nvPr/>
          </p:nvSpPr>
          <p:spPr>
            <a:xfrm>
              <a:off x="0" y="-38100"/>
              <a:ext cx="1378636"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1020386" y="4653619"/>
            <a:ext cx="5099990" cy="898602"/>
            <a:chOff x="0" y="0"/>
            <a:chExt cx="1343207" cy="236669"/>
          </a:xfrm>
        </p:grpSpPr>
        <p:sp>
          <p:nvSpPr>
            <p:cNvPr name="Freeform 24" id="24"/>
            <p:cNvSpPr/>
            <p:nvPr/>
          </p:nvSpPr>
          <p:spPr>
            <a:xfrm flipH="false" flipV="false" rot="0">
              <a:off x="0" y="0"/>
              <a:ext cx="1343207" cy="236669"/>
            </a:xfrm>
            <a:custGeom>
              <a:avLst/>
              <a:gdLst/>
              <a:ahLst/>
              <a:cxnLst/>
              <a:rect r="r" b="b" t="t" l="l"/>
              <a:pathLst>
                <a:path h="236669" w="1343207">
                  <a:moveTo>
                    <a:pt x="0" y="0"/>
                  </a:moveTo>
                  <a:lnTo>
                    <a:pt x="1343207" y="0"/>
                  </a:lnTo>
                  <a:lnTo>
                    <a:pt x="1343207" y="236669"/>
                  </a:lnTo>
                  <a:lnTo>
                    <a:pt x="0" y="236669"/>
                  </a:lnTo>
                  <a:close/>
                </a:path>
              </a:pathLst>
            </a:custGeom>
            <a:solidFill>
              <a:srgbClr val="FFFFFF"/>
            </a:solidFill>
            <a:ln cap="sq">
              <a:noFill/>
              <a:prstDash val="solid"/>
              <a:miter/>
            </a:ln>
          </p:spPr>
        </p:sp>
        <p:sp>
          <p:nvSpPr>
            <p:cNvPr name="TextBox 25" id="25"/>
            <p:cNvSpPr txBox="true"/>
            <p:nvPr/>
          </p:nvSpPr>
          <p:spPr>
            <a:xfrm>
              <a:off x="0" y="-38100"/>
              <a:ext cx="1343207" cy="274769"/>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0">
            <a:off x="10551264" y="1066800"/>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7" id="27"/>
          <p:cNvSpPr txBox="true"/>
          <p:nvPr/>
        </p:nvSpPr>
        <p:spPr>
          <a:xfrm rot="0">
            <a:off x="11773076" y="1292437"/>
            <a:ext cx="4347300"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Artificial Intelligence</a:t>
            </a:r>
          </a:p>
        </p:txBody>
      </p:sp>
      <p:sp>
        <p:nvSpPr>
          <p:cNvPr name="TextBox 28" id="28"/>
          <p:cNvSpPr txBox="true"/>
          <p:nvPr/>
        </p:nvSpPr>
        <p:spPr>
          <a:xfrm rot="0">
            <a:off x="11827352" y="6063541"/>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Robotics</a:t>
            </a:r>
          </a:p>
        </p:txBody>
      </p:sp>
      <p:sp>
        <p:nvSpPr>
          <p:cNvPr name="TextBox 29" id="29"/>
          <p:cNvSpPr txBox="true"/>
          <p:nvPr/>
        </p:nvSpPr>
        <p:spPr>
          <a:xfrm rot="0">
            <a:off x="11827352" y="2480758"/>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Machine Learning</a:t>
            </a:r>
          </a:p>
        </p:txBody>
      </p:sp>
      <p:sp>
        <p:nvSpPr>
          <p:cNvPr name="TextBox 30" id="30"/>
          <p:cNvSpPr txBox="true"/>
          <p:nvPr/>
        </p:nvSpPr>
        <p:spPr>
          <a:xfrm rot="0">
            <a:off x="11827352" y="7251862"/>
            <a:ext cx="3608280"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Quantum Computing</a:t>
            </a:r>
          </a:p>
        </p:txBody>
      </p:sp>
      <p:sp>
        <p:nvSpPr>
          <p:cNvPr name="TextBox 31" id="31"/>
          <p:cNvSpPr txBox="true"/>
          <p:nvPr/>
        </p:nvSpPr>
        <p:spPr>
          <a:xfrm rot="0">
            <a:off x="11827352" y="3669078"/>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Cloud Computing</a:t>
            </a:r>
          </a:p>
        </p:txBody>
      </p:sp>
      <p:sp>
        <p:nvSpPr>
          <p:cNvPr name="TextBox 32" id="32"/>
          <p:cNvSpPr txBox="true"/>
          <p:nvPr/>
        </p:nvSpPr>
        <p:spPr>
          <a:xfrm rot="0">
            <a:off x="11827352" y="8440182"/>
            <a:ext cx="4113258"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Edge Computing</a:t>
            </a:r>
          </a:p>
        </p:txBody>
      </p:sp>
      <p:sp>
        <p:nvSpPr>
          <p:cNvPr name="TextBox 33" id="33"/>
          <p:cNvSpPr txBox="true"/>
          <p:nvPr/>
        </p:nvSpPr>
        <p:spPr>
          <a:xfrm rot="0">
            <a:off x="11827352" y="4857399"/>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Blockchain</a:t>
            </a:r>
          </a:p>
        </p:txBody>
      </p:sp>
      <p:sp>
        <p:nvSpPr>
          <p:cNvPr name="Freeform 34" id="34"/>
          <p:cNvSpPr/>
          <p:nvPr/>
        </p:nvSpPr>
        <p:spPr>
          <a:xfrm flipH="false" flipV="false" rot="0">
            <a:off x="10551264" y="2278352"/>
            <a:ext cx="929984" cy="929984"/>
          </a:xfrm>
          <a:custGeom>
            <a:avLst/>
            <a:gdLst/>
            <a:ahLst/>
            <a:cxnLst/>
            <a:rect r="r" b="b" t="t" l="l"/>
            <a:pathLst>
              <a:path h="929984" w="929984">
                <a:moveTo>
                  <a:pt x="0" y="0"/>
                </a:moveTo>
                <a:lnTo>
                  <a:pt x="929984" y="0"/>
                </a:lnTo>
                <a:lnTo>
                  <a:pt x="929984" y="929985"/>
                </a:lnTo>
                <a:lnTo>
                  <a:pt x="0" y="929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5" id="35"/>
          <p:cNvSpPr/>
          <p:nvPr/>
        </p:nvSpPr>
        <p:spPr>
          <a:xfrm flipH="false" flipV="false" rot="0">
            <a:off x="10551264" y="3455774"/>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6" id="36"/>
          <p:cNvSpPr/>
          <p:nvPr/>
        </p:nvSpPr>
        <p:spPr>
          <a:xfrm flipH="false" flipV="false" rot="0">
            <a:off x="10551264" y="4642933"/>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7" id="37"/>
          <p:cNvSpPr/>
          <p:nvPr/>
        </p:nvSpPr>
        <p:spPr>
          <a:xfrm flipH="false" flipV="false" rot="0">
            <a:off x="10551264" y="5868192"/>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8" id="38"/>
          <p:cNvSpPr/>
          <p:nvPr/>
        </p:nvSpPr>
        <p:spPr>
          <a:xfrm flipH="false" flipV="false" rot="0">
            <a:off x="10551264" y="7045826"/>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9" id="39"/>
          <p:cNvSpPr/>
          <p:nvPr/>
        </p:nvSpPr>
        <p:spPr>
          <a:xfrm flipH="false" flipV="false" rot="0">
            <a:off x="10551264" y="8223247"/>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0" id="40"/>
          <p:cNvSpPr/>
          <p:nvPr/>
        </p:nvSpPr>
        <p:spPr>
          <a:xfrm flipH="false" flipV="false" rot="-10800000">
            <a:off x="-1686063" y="-2142972"/>
            <a:ext cx="11777918" cy="3918834"/>
          </a:xfrm>
          <a:custGeom>
            <a:avLst/>
            <a:gdLst/>
            <a:ahLst/>
            <a:cxnLst/>
            <a:rect r="r" b="b" t="t" l="l"/>
            <a:pathLst>
              <a:path h="3918834" w="11777918">
                <a:moveTo>
                  <a:pt x="0" y="0"/>
                </a:moveTo>
                <a:lnTo>
                  <a:pt x="11777918" y="0"/>
                </a:lnTo>
                <a:lnTo>
                  <a:pt x="11777918" y="3918835"/>
                </a:lnTo>
                <a:lnTo>
                  <a:pt x="0" y="39188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1" id="41"/>
          <p:cNvSpPr/>
          <p:nvPr/>
        </p:nvSpPr>
        <p:spPr>
          <a:xfrm flipH="false" flipV="false" rot="-10800000">
            <a:off x="-1686063" y="8223247"/>
            <a:ext cx="11777918" cy="3918834"/>
          </a:xfrm>
          <a:custGeom>
            <a:avLst/>
            <a:gdLst/>
            <a:ahLst/>
            <a:cxnLst/>
            <a:rect r="r" b="b" t="t" l="l"/>
            <a:pathLst>
              <a:path h="3918834" w="11777918">
                <a:moveTo>
                  <a:pt x="0" y="0"/>
                </a:moveTo>
                <a:lnTo>
                  <a:pt x="11777918" y="0"/>
                </a:lnTo>
                <a:lnTo>
                  <a:pt x="11777918" y="3918835"/>
                </a:lnTo>
                <a:lnTo>
                  <a:pt x="0" y="39188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2" id="42"/>
          <p:cNvSpPr/>
          <p:nvPr/>
        </p:nvSpPr>
        <p:spPr>
          <a:xfrm flipH="true" flipV="true" rot="5400000">
            <a:off x="16266227" y="-1582871"/>
            <a:ext cx="6574638" cy="6275790"/>
          </a:xfrm>
          <a:custGeom>
            <a:avLst/>
            <a:gdLst/>
            <a:ahLst/>
            <a:cxnLst/>
            <a:rect r="r" b="b" t="t" l="l"/>
            <a:pathLst>
              <a:path h="6275790" w="6574638">
                <a:moveTo>
                  <a:pt x="6574638" y="6275790"/>
                </a:moveTo>
                <a:lnTo>
                  <a:pt x="0" y="6275790"/>
                </a:lnTo>
                <a:lnTo>
                  <a:pt x="0" y="0"/>
                </a:lnTo>
                <a:lnTo>
                  <a:pt x="6574638" y="0"/>
                </a:lnTo>
                <a:lnTo>
                  <a:pt x="6574638" y="627579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5400000">
            <a:off x="-3049026" y="-1404198"/>
            <a:ext cx="8192396" cy="7820014"/>
          </a:xfrm>
          <a:custGeom>
            <a:avLst/>
            <a:gdLst/>
            <a:ahLst/>
            <a:cxnLst/>
            <a:rect r="r" b="b" t="t" l="l"/>
            <a:pathLst>
              <a:path h="7820014" w="8192396">
                <a:moveTo>
                  <a:pt x="8192395" y="7820014"/>
                </a:moveTo>
                <a:lnTo>
                  <a:pt x="0" y="7820014"/>
                </a:lnTo>
                <a:lnTo>
                  <a:pt x="0" y="0"/>
                </a:lnTo>
                <a:lnTo>
                  <a:pt x="8192395" y="0"/>
                </a:lnTo>
                <a:lnTo>
                  <a:pt x="8192395" y="782001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3170652"/>
            <a:ext cx="8115300" cy="6028526"/>
            <a:chOff x="0" y="0"/>
            <a:chExt cx="1257272" cy="933976"/>
          </a:xfrm>
        </p:grpSpPr>
        <p:sp>
          <p:nvSpPr>
            <p:cNvPr name="Freeform 5" id="5"/>
            <p:cNvSpPr/>
            <p:nvPr/>
          </p:nvSpPr>
          <p:spPr>
            <a:xfrm flipH="false" flipV="false" rot="0">
              <a:off x="0" y="0"/>
              <a:ext cx="1257272" cy="933976"/>
            </a:xfrm>
            <a:custGeom>
              <a:avLst/>
              <a:gdLst/>
              <a:ahLst/>
              <a:cxnLst/>
              <a:rect r="r" b="b" t="t" l="l"/>
              <a:pathLst>
                <a:path h="933976" w="1257272">
                  <a:moveTo>
                    <a:pt x="0" y="0"/>
                  </a:moveTo>
                  <a:lnTo>
                    <a:pt x="1257272" y="0"/>
                  </a:lnTo>
                  <a:lnTo>
                    <a:pt x="1257272" y="933976"/>
                  </a:lnTo>
                  <a:lnTo>
                    <a:pt x="0" y="933976"/>
                  </a:lnTo>
                  <a:close/>
                </a:path>
              </a:pathLst>
            </a:custGeom>
            <a:blipFill>
              <a:blip r:embed="rId5"/>
              <a:stretch>
                <a:fillRect l="-6122" t="0" r="-6122" b="0"/>
              </a:stretch>
            </a:blipFill>
            <a:ln w="38100" cap="sq">
              <a:solidFill>
                <a:srgbClr val="FFFFFF"/>
              </a:solidFill>
              <a:prstDash val="solid"/>
              <a:miter/>
            </a:ln>
          </p:spPr>
        </p:sp>
      </p:grpSp>
      <p:sp>
        <p:nvSpPr>
          <p:cNvPr name="Freeform 6" id="6"/>
          <p:cNvSpPr/>
          <p:nvPr/>
        </p:nvSpPr>
        <p:spPr>
          <a:xfrm flipH="false" flipV="false" rot="-10800000">
            <a:off x="12405161" y="-2678193"/>
            <a:ext cx="11777918" cy="3918834"/>
          </a:xfrm>
          <a:custGeom>
            <a:avLst/>
            <a:gdLst/>
            <a:ahLst/>
            <a:cxnLst/>
            <a:rect r="r" b="b" t="t" l="l"/>
            <a:pathLst>
              <a:path h="3918834" w="11777918">
                <a:moveTo>
                  <a:pt x="0" y="0"/>
                </a:moveTo>
                <a:lnTo>
                  <a:pt x="11777918" y="0"/>
                </a:lnTo>
                <a:lnTo>
                  <a:pt x="11777918" y="3918835"/>
                </a:lnTo>
                <a:lnTo>
                  <a:pt x="0" y="39188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619138" y="1323975"/>
            <a:ext cx="9049725" cy="1700651"/>
          </a:xfrm>
          <a:prstGeom prst="rect">
            <a:avLst/>
          </a:prstGeom>
        </p:spPr>
        <p:txBody>
          <a:bodyPr anchor="t" rtlCol="false" tIns="0" lIns="0" bIns="0" rIns="0">
            <a:spAutoFit/>
          </a:bodyPr>
          <a:lstStyle/>
          <a:p>
            <a:pPr algn="ctr">
              <a:lnSpc>
                <a:spcPts val="6293"/>
              </a:lnSpc>
            </a:pPr>
            <a:r>
              <a:rPr lang="en-US" sz="7966">
                <a:solidFill>
                  <a:srgbClr val="FFFFFF"/>
                </a:solidFill>
                <a:latin typeface="Adriana"/>
                <a:ea typeface="Adriana"/>
                <a:cs typeface="Adriana"/>
                <a:sym typeface="Adriana"/>
              </a:rPr>
              <a:t>CLOUD COMPUTING</a:t>
            </a:r>
          </a:p>
        </p:txBody>
      </p:sp>
      <p:sp>
        <p:nvSpPr>
          <p:cNvPr name="TextBox 8" id="8"/>
          <p:cNvSpPr txBox="true"/>
          <p:nvPr/>
        </p:nvSpPr>
        <p:spPr>
          <a:xfrm rot="0">
            <a:off x="9546615" y="3542408"/>
            <a:ext cx="7712685" cy="5346107"/>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p>
        </p:txBody>
      </p:sp>
      <p:sp>
        <p:nvSpPr>
          <p:cNvPr name="Freeform 9" id="9"/>
          <p:cNvSpPr/>
          <p:nvPr/>
        </p:nvSpPr>
        <p:spPr>
          <a:xfrm flipH="true" flipV="true" rot="0">
            <a:off x="11523278" y="8888515"/>
            <a:ext cx="8192396" cy="7820014"/>
          </a:xfrm>
          <a:custGeom>
            <a:avLst/>
            <a:gdLst/>
            <a:ahLst/>
            <a:cxnLst/>
            <a:rect r="r" b="b" t="t" l="l"/>
            <a:pathLst>
              <a:path h="7820014" w="8192396">
                <a:moveTo>
                  <a:pt x="8192396" y="7820014"/>
                </a:moveTo>
                <a:lnTo>
                  <a:pt x="0" y="7820014"/>
                </a:lnTo>
                <a:lnTo>
                  <a:pt x="0" y="0"/>
                </a:lnTo>
                <a:lnTo>
                  <a:pt x="8192396" y="0"/>
                </a:lnTo>
                <a:lnTo>
                  <a:pt x="8192396" y="7820014"/>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graphicFrame>
        <p:nvGraphicFramePr>
          <p:cNvPr name="Table 3" id="3"/>
          <p:cNvGraphicFramePr>
            <a:graphicFrameLocks noGrp="true"/>
          </p:cNvGraphicFramePr>
          <p:nvPr/>
        </p:nvGraphicFramePr>
        <p:xfrm>
          <a:off x="4202896" y="3333750"/>
          <a:ext cx="9882208" cy="5924550"/>
        </p:xfrm>
        <a:graphic>
          <a:graphicData uri="http://schemas.openxmlformats.org/drawingml/2006/table">
            <a:tbl>
              <a:tblPr/>
              <a:tblGrid>
                <a:gridCol w="3640201"/>
                <a:gridCol w="6242007"/>
              </a:tblGrid>
              <a:tr h="987425">
                <a:tc>
                  <a:txBody>
                    <a:bodyPr anchor="t" rtlCol="false"/>
                    <a:lstStyle/>
                    <a:p>
                      <a:pPr algn="l">
                        <a:lnSpc>
                          <a:spcPts val="2520"/>
                        </a:lnSpc>
                        <a:defRPr/>
                      </a:pPr>
                      <a:r>
                        <a:rPr lang="en-US" sz="1800" b="true">
                          <a:solidFill>
                            <a:srgbClr val="041636"/>
                          </a:solidFill>
                          <a:latin typeface="Poppins Bold"/>
                          <a:ea typeface="Poppins Bold"/>
                          <a:cs typeface="Poppins Bold"/>
                          <a:sym typeface="Poppins Bold"/>
                        </a:rPr>
                        <a:t>INDUSTRY</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1800">
                          <a:solidFill>
                            <a:srgbClr val="041636"/>
                          </a:solidFill>
                          <a:latin typeface="Poppins"/>
                          <a:ea typeface="Poppins"/>
                          <a:cs typeface="Poppins"/>
                          <a:sym typeface="Poppins"/>
                        </a:rPr>
                        <a:t>Technology Impact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987425">
                <a:tc>
                  <a:txBody>
                    <a:bodyPr anchor="t" rtlCol="false"/>
                    <a:lstStyle/>
                    <a:p>
                      <a:pPr algn="l">
                        <a:lnSpc>
                          <a:spcPts val="2520"/>
                        </a:lnSpc>
                        <a:defRPr/>
                      </a:pPr>
                      <a:r>
                        <a:rPr lang="en-US" sz="1800" b="true">
                          <a:solidFill>
                            <a:srgbClr val="041636"/>
                          </a:solidFill>
                          <a:latin typeface="Poppins Bold"/>
                          <a:ea typeface="Poppins Bold"/>
                          <a:cs typeface="Poppins Bold"/>
                          <a:sym typeface="Poppins Bold"/>
                        </a:rPr>
                        <a:t>HEALTHCARE</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1800">
                          <a:solidFill>
                            <a:srgbClr val="041636"/>
                          </a:solidFill>
                          <a:latin typeface="Poppins"/>
                          <a:ea typeface="Poppins"/>
                          <a:cs typeface="Poppins"/>
                          <a:sym typeface="Poppins"/>
                        </a:rPr>
                        <a:t>Faster diagnosis and digital records</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987425">
                <a:tc>
                  <a:txBody>
                    <a:bodyPr anchor="t" rtlCol="false"/>
                    <a:lstStyle/>
                    <a:p>
                      <a:pPr algn="l">
                        <a:lnSpc>
                          <a:spcPts val="2520"/>
                        </a:lnSpc>
                        <a:defRPr/>
                      </a:pPr>
                      <a:r>
                        <a:rPr lang="en-US" sz="1800" b="true">
                          <a:solidFill>
                            <a:srgbClr val="041636"/>
                          </a:solidFill>
                          <a:latin typeface="Poppins Bold"/>
                          <a:ea typeface="Poppins Bold"/>
                          <a:cs typeface="Poppins Bold"/>
                          <a:sym typeface="Poppins Bold"/>
                        </a:rPr>
                        <a:t>EDUCATION</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1800">
                          <a:solidFill>
                            <a:srgbClr val="041636"/>
                          </a:solidFill>
                          <a:latin typeface="Poppins"/>
                          <a:ea typeface="Poppins"/>
                          <a:cs typeface="Poppins"/>
                          <a:sym typeface="Poppins"/>
                        </a:rPr>
                        <a:t>Online learning and virtual classrooms</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987425">
                <a:tc>
                  <a:txBody>
                    <a:bodyPr anchor="t" rtlCol="false"/>
                    <a:lstStyle/>
                    <a:p>
                      <a:pPr algn="l">
                        <a:lnSpc>
                          <a:spcPts val="2520"/>
                        </a:lnSpc>
                        <a:defRPr/>
                      </a:pPr>
                      <a:r>
                        <a:rPr lang="en-US" sz="1800" b="true">
                          <a:solidFill>
                            <a:srgbClr val="041636"/>
                          </a:solidFill>
                          <a:latin typeface="Poppins Bold"/>
                          <a:ea typeface="Poppins Bold"/>
                          <a:cs typeface="Poppins Bold"/>
                          <a:sym typeface="Poppins Bold"/>
                        </a:rPr>
                        <a:t>FINANCE</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1800">
                          <a:solidFill>
                            <a:srgbClr val="041636"/>
                          </a:solidFill>
                          <a:latin typeface="Poppins"/>
                          <a:ea typeface="Poppins"/>
                          <a:cs typeface="Poppins"/>
                          <a:sym typeface="Poppins"/>
                        </a:rPr>
                        <a:t>Secure online banking and digital payments</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987425">
                <a:tc>
                  <a:txBody>
                    <a:bodyPr anchor="t" rtlCol="false"/>
                    <a:lstStyle/>
                    <a:p>
                      <a:pPr algn="l">
                        <a:lnSpc>
                          <a:spcPts val="2520"/>
                        </a:lnSpc>
                        <a:defRPr/>
                      </a:pPr>
                      <a:r>
                        <a:rPr lang="en-US" sz="1800" b="true">
                          <a:solidFill>
                            <a:srgbClr val="041636"/>
                          </a:solidFill>
                          <a:latin typeface="Poppins Bold"/>
                          <a:ea typeface="Poppins Bold"/>
                          <a:cs typeface="Poppins Bold"/>
                          <a:sym typeface="Poppins Bold"/>
                        </a:rPr>
                        <a:t>MANUFACTURING</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1800">
                          <a:solidFill>
                            <a:srgbClr val="041636"/>
                          </a:solidFill>
                          <a:latin typeface="Poppins"/>
                          <a:ea typeface="Poppins"/>
                          <a:cs typeface="Poppins"/>
                          <a:sym typeface="Poppins"/>
                        </a:rPr>
                        <a:t>Smart automation and robotics</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987425">
                <a:tc>
                  <a:txBody>
                    <a:bodyPr anchor="t" rtlCol="false"/>
                    <a:lstStyle/>
                    <a:p>
                      <a:pPr algn="l">
                        <a:lnSpc>
                          <a:spcPts val="2520"/>
                        </a:lnSpc>
                        <a:defRPr/>
                      </a:pPr>
                      <a:r>
                        <a:rPr lang="en-US" sz="1800" b="true">
                          <a:solidFill>
                            <a:srgbClr val="041636"/>
                          </a:solidFill>
                          <a:latin typeface="Poppins Bold"/>
                          <a:ea typeface="Poppins Bold"/>
                          <a:cs typeface="Poppins Bold"/>
                          <a:sym typeface="Poppins Bold"/>
                        </a:rPr>
                        <a:t>RETAIL</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1800">
                          <a:solidFill>
                            <a:srgbClr val="041636"/>
                          </a:solidFill>
                          <a:latin typeface="Poppins"/>
                          <a:ea typeface="Poppins"/>
                          <a:cs typeface="Poppins"/>
                          <a:sym typeface="Poppins"/>
                        </a:rPr>
                        <a:t>Personalized customer experiences</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2062130" y="1323975"/>
            <a:ext cx="14163741" cy="1700651"/>
          </a:xfrm>
          <a:prstGeom prst="rect">
            <a:avLst/>
          </a:prstGeom>
        </p:spPr>
        <p:txBody>
          <a:bodyPr anchor="t" rtlCol="false" tIns="0" lIns="0" bIns="0" rIns="0">
            <a:spAutoFit/>
          </a:bodyPr>
          <a:lstStyle/>
          <a:p>
            <a:pPr algn="ctr">
              <a:lnSpc>
                <a:spcPts val="6293"/>
              </a:lnSpc>
            </a:pPr>
            <a:r>
              <a:rPr lang="en-US" sz="7966">
                <a:solidFill>
                  <a:srgbClr val="FFFFFF"/>
                </a:solidFill>
                <a:latin typeface="Adriana"/>
                <a:ea typeface="Adriana"/>
                <a:cs typeface="Adriana"/>
                <a:sym typeface="Adriana"/>
              </a:rPr>
              <a:t>TECHNOLOGY IN DIFFERENT INDUSTRIES</a:t>
            </a:r>
          </a:p>
        </p:txBody>
      </p:sp>
      <p:sp>
        <p:nvSpPr>
          <p:cNvPr name="Freeform 5" id="5"/>
          <p:cNvSpPr/>
          <p:nvPr/>
        </p:nvSpPr>
        <p:spPr>
          <a:xfrm flipH="false" flipV="false" rot="-10800000">
            <a:off x="14886963" y="-1560948"/>
            <a:ext cx="11777918" cy="3918834"/>
          </a:xfrm>
          <a:custGeom>
            <a:avLst/>
            <a:gdLst/>
            <a:ahLst/>
            <a:cxnLst/>
            <a:rect r="r" b="b" t="t" l="l"/>
            <a:pathLst>
              <a:path h="3918834" w="11777918">
                <a:moveTo>
                  <a:pt x="0" y="0"/>
                </a:moveTo>
                <a:lnTo>
                  <a:pt x="11777918" y="0"/>
                </a:lnTo>
                <a:lnTo>
                  <a:pt x="11777918" y="3918834"/>
                </a:lnTo>
                <a:lnTo>
                  <a:pt x="0" y="39188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true" rot="-5400000">
            <a:off x="-4430269" y="5120257"/>
            <a:ext cx="8192396" cy="7820014"/>
          </a:xfrm>
          <a:custGeom>
            <a:avLst/>
            <a:gdLst/>
            <a:ahLst/>
            <a:cxnLst/>
            <a:rect r="r" b="b" t="t" l="l"/>
            <a:pathLst>
              <a:path h="7820014" w="8192396">
                <a:moveTo>
                  <a:pt x="8192395" y="7820014"/>
                </a:moveTo>
                <a:lnTo>
                  <a:pt x="0" y="7820014"/>
                </a:lnTo>
                <a:lnTo>
                  <a:pt x="0" y="0"/>
                </a:lnTo>
                <a:lnTo>
                  <a:pt x="8192395" y="0"/>
                </a:lnTo>
                <a:lnTo>
                  <a:pt x="8192395" y="7820014"/>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8697949" y="2611719"/>
            <a:ext cx="11777918" cy="3918834"/>
          </a:xfrm>
          <a:custGeom>
            <a:avLst/>
            <a:gdLst/>
            <a:ahLst/>
            <a:cxnLst/>
            <a:rect r="r" b="b" t="t" l="l"/>
            <a:pathLst>
              <a:path h="3918834" w="11777918">
                <a:moveTo>
                  <a:pt x="0" y="0"/>
                </a:moveTo>
                <a:lnTo>
                  <a:pt x="11777918" y="0"/>
                </a:lnTo>
                <a:lnTo>
                  <a:pt x="11777918" y="3918834"/>
                </a:lnTo>
                <a:lnTo>
                  <a:pt x="0" y="39188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true" rot="-5400000">
            <a:off x="14527563" y="4031104"/>
            <a:ext cx="8192396" cy="7820014"/>
          </a:xfrm>
          <a:custGeom>
            <a:avLst/>
            <a:gdLst/>
            <a:ahLst/>
            <a:cxnLst/>
            <a:rect r="r" b="b" t="t" l="l"/>
            <a:pathLst>
              <a:path h="7820014" w="8192396">
                <a:moveTo>
                  <a:pt x="8192396" y="7820014"/>
                </a:moveTo>
                <a:lnTo>
                  <a:pt x="0" y="7820014"/>
                </a:lnTo>
                <a:lnTo>
                  <a:pt x="0" y="0"/>
                </a:lnTo>
                <a:lnTo>
                  <a:pt x="8192396" y="0"/>
                </a:lnTo>
                <a:lnTo>
                  <a:pt x="8192396" y="7820014"/>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5400000">
            <a:off x="-4409986" y="-2049939"/>
            <a:ext cx="8192396" cy="7820014"/>
          </a:xfrm>
          <a:custGeom>
            <a:avLst/>
            <a:gdLst/>
            <a:ahLst/>
            <a:cxnLst/>
            <a:rect r="r" b="b" t="t" l="l"/>
            <a:pathLst>
              <a:path h="7820014" w="8192396">
                <a:moveTo>
                  <a:pt x="8192395" y="7820014"/>
                </a:moveTo>
                <a:lnTo>
                  <a:pt x="0" y="7820014"/>
                </a:lnTo>
                <a:lnTo>
                  <a:pt x="0" y="0"/>
                </a:lnTo>
                <a:lnTo>
                  <a:pt x="8192395" y="0"/>
                </a:lnTo>
                <a:lnTo>
                  <a:pt x="8192395" y="782001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776655" y="1602977"/>
            <a:ext cx="10734690" cy="1700651"/>
          </a:xfrm>
          <a:prstGeom prst="rect">
            <a:avLst/>
          </a:prstGeom>
        </p:spPr>
        <p:txBody>
          <a:bodyPr anchor="t" rtlCol="false" tIns="0" lIns="0" bIns="0" rIns="0">
            <a:spAutoFit/>
          </a:bodyPr>
          <a:lstStyle/>
          <a:p>
            <a:pPr algn="ctr">
              <a:lnSpc>
                <a:spcPts val="6293"/>
              </a:lnSpc>
            </a:pPr>
            <a:r>
              <a:rPr lang="en-US" sz="7966">
                <a:solidFill>
                  <a:srgbClr val="FFFFFF"/>
                </a:solidFill>
                <a:latin typeface="Adriana"/>
                <a:ea typeface="Adriana"/>
                <a:cs typeface="Adriana"/>
                <a:sym typeface="Adriana"/>
              </a:rPr>
              <a:t>DIGITAL TRANSFORMATION</a:t>
            </a:r>
          </a:p>
        </p:txBody>
      </p:sp>
      <p:grpSp>
        <p:nvGrpSpPr>
          <p:cNvPr name="Group 5" id="5"/>
          <p:cNvGrpSpPr/>
          <p:nvPr/>
        </p:nvGrpSpPr>
        <p:grpSpPr>
          <a:xfrm rot="0">
            <a:off x="1028700" y="3692000"/>
            <a:ext cx="8468496" cy="5566300"/>
            <a:chOff x="0" y="0"/>
            <a:chExt cx="1311992" cy="862366"/>
          </a:xfrm>
        </p:grpSpPr>
        <p:sp>
          <p:nvSpPr>
            <p:cNvPr name="Freeform 6" id="6"/>
            <p:cNvSpPr/>
            <p:nvPr/>
          </p:nvSpPr>
          <p:spPr>
            <a:xfrm flipH="false" flipV="false" rot="0">
              <a:off x="0" y="0"/>
              <a:ext cx="1311992" cy="862366"/>
            </a:xfrm>
            <a:custGeom>
              <a:avLst/>
              <a:gdLst/>
              <a:ahLst/>
              <a:cxnLst/>
              <a:rect r="r" b="b" t="t" l="l"/>
              <a:pathLst>
                <a:path h="862366" w="1311992">
                  <a:moveTo>
                    <a:pt x="0" y="0"/>
                  </a:moveTo>
                  <a:lnTo>
                    <a:pt x="1311992" y="0"/>
                  </a:lnTo>
                  <a:lnTo>
                    <a:pt x="1311992" y="862366"/>
                  </a:lnTo>
                  <a:lnTo>
                    <a:pt x="0" y="862366"/>
                  </a:lnTo>
                  <a:close/>
                </a:path>
              </a:pathLst>
            </a:custGeom>
            <a:blipFill>
              <a:blip r:embed="rId5"/>
              <a:stretch>
                <a:fillRect l="0" t="-758" r="0" b="-758"/>
              </a:stretch>
            </a:blipFill>
            <a:ln w="38100" cap="sq">
              <a:solidFill>
                <a:srgbClr val="FFFFFF"/>
              </a:solidFill>
              <a:prstDash val="solid"/>
              <a:miter/>
            </a:ln>
          </p:spPr>
        </p:sp>
      </p:grpSp>
      <p:grpSp>
        <p:nvGrpSpPr>
          <p:cNvPr name="Group 7" id="7"/>
          <p:cNvGrpSpPr/>
          <p:nvPr/>
        </p:nvGrpSpPr>
        <p:grpSpPr>
          <a:xfrm rot="0">
            <a:off x="9999948" y="4289649"/>
            <a:ext cx="9022793" cy="898602"/>
            <a:chOff x="0" y="0"/>
            <a:chExt cx="2376373" cy="236669"/>
          </a:xfrm>
        </p:grpSpPr>
        <p:sp>
          <p:nvSpPr>
            <p:cNvPr name="Freeform 8" id="8"/>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9" id="9"/>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9999948" y="5447116"/>
            <a:ext cx="9022793" cy="898602"/>
            <a:chOff x="0" y="0"/>
            <a:chExt cx="2376373" cy="236669"/>
          </a:xfrm>
        </p:grpSpPr>
        <p:sp>
          <p:nvSpPr>
            <p:cNvPr name="Freeform 11" id="11"/>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12" id="12"/>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9999948" y="6604582"/>
            <a:ext cx="9022793" cy="898602"/>
            <a:chOff x="0" y="0"/>
            <a:chExt cx="2376373" cy="236669"/>
          </a:xfrm>
        </p:grpSpPr>
        <p:sp>
          <p:nvSpPr>
            <p:cNvPr name="Freeform 14" id="14"/>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15" id="15"/>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9999948" y="7762049"/>
            <a:ext cx="9022793" cy="898602"/>
            <a:chOff x="0" y="0"/>
            <a:chExt cx="2376373" cy="236669"/>
          </a:xfrm>
        </p:grpSpPr>
        <p:sp>
          <p:nvSpPr>
            <p:cNvPr name="Freeform 17" id="17"/>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18" id="18"/>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0515645" y="4465692"/>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1394194" y="4477902"/>
            <a:ext cx="555929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Improve business efficiency</a:t>
            </a:r>
          </a:p>
        </p:txBody>
      </p:sp>
      <p:sp>
        <p:nvSpPr>
          <p:cNvPr name="TextBox 21" id="21"/>
          <p:cNvSpPr txBox="true"/>
          <p:nvPr/>
        </p:nvSpPr>
        <p:spPr>
          <a:xfrm rot="0">
            <a:off x="11394194" y="5635369"/>
            <a:ext cx="555929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Enhance customer experience</a:t>
            </a:r>
          </a:p>
        </p:txBody>
      </p:sp>
      <p:sp>
        <p:nvSpPr>
          <p:cNvPr name="TextBox 22" id="22"/>
          <p:cNvSpPr txBox="true"/>
          <p:nvPr/>
        </p:nvSpPr>
        <p:spPr>
          <a:xfrm rot="0">
            <a:off x="11394194" y="6792835"/>
            <a:ext cx="555929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Increase operational flexibility</a:t>
            </a:r>
          </a:p>
        </p:txBody>
      </p:sp>
      <p:sp>
        <p:nvSpPr>
          <p:cNvPr name="TextBox 23" id="23"/>
          <p:cNvSpPr txBox="true"/>
          <p:nvPr/>
        </p:nvSpPr>
        <p:spPr>
          <a:xfrm rot="0">
            <a:off x="11394194" y="7950302"/>
            <a:ext cx="520456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Support innovation</a:t>
            </a:r>
          </a:p>
        </p:txBody>
      </p:sp>
      <p:sp>
        <p:nvSpPr>
          <p:cNvPr name="Freeform 24" id="24"/>
          <p:cNvSpPr/>
          <p:nvPr/>
        </p:nvSpPr>
        <p:spPr>
          <a:xfrm flipH="false" flipV="false" rot="0">
            <a:off x="10515645" y="5623159"/>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0515645" y="6780625"/>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0515645" y="7938092"/>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10800000">
            <a:off x="-4860259" y="8484608"/>
            <a:ext cx="11777918" cy="3918834"/>
          </a:xfrm>
          <a:custGeom>
            <a:avLst/>
            <a:gdLst/>
            <a:ahLst/>
            <a:cxnLst/>
            <a:rect r="r" b="b" t="t" l="l"/>
            <a:pathLst>
              <a:path h="3918834" w="11777918">
                <a:moveTo>
                  <a:pt x="0" y="0"/>
                </a:moveTo>
                <a:lnTo>
                  <a:pt x="11777918" y="0"/>
                </a:lnTo>
                <a:lnTo>
                  <a:pt x="11777918" y="3918835"/>
                </a:lnTo>
                <a:lnTo>
                  <a:pt x="0" y="3918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8" id="28"/>
          <p:cNvSpPr/>
          <p:nvPr/>
        </p:nvSpPr>
        <p:spPr>
          <a:xfrm flipH="false" flipV="false" rot="-10800000">
            <a:off x="11394194" y="-2200936"/>
            <a:ext cx="11777918" cy="3918834"/>
          </a:xfrm>
          <a:custGeom>
            <a:avLst/>
            <a:gdLst/>
            <a:ahLst/>
            <a:cxnLst/>
            <a:rect r="r" b="b" t="t" l="l"/>
            <a:pathLst>
              <a:path h="3918834" w="11777918">
                <a:moveTo>
                  <a:pt x="0" y="0"/>
                </a:moveTo>
                <a:lnTo>
                  <a:pt x="11777918" y="0"/>
                </a:lnTo>
                <a:lnTo>
                  <a:pt x="11777918" y="3918835"/>
                </a:lnTo>
                <a:lnTo>
                  <a:pt x="0" y="39188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0">
            <a:off x="12557906" y="3599558"/>
            <a:ext cx="8192396" cy="7820014"/>
          </a:xfrm>
          <a:custGeom>
            <a:avLst/>
            <a:gdLst/>
            <a:ahLst/>
            <a:cxnLst/>
            <a:rect r="r" b="b" t="t" l="l"/>
            <a:pathLst>
              <a:path h="7820014" w="8192396">
                <a:moveTo>
                  <a:pt x="8192395" y="7820014"/>
                </a:moveTo>
                <a:lnTo>
                  <a:pt x="0" y="7820014"/>
                </a:lnTo>
                <a:lnTo>
                  <a:pt x="0" y="0"/>
                </a:lnTo>
                <a:lnTo>
                  <a:pt x="8192395" y="0"/>
                </a:lnTo>
                <a:lnTo>
                  <a:pt x="8192395" y="782001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144000" y="3229774"/>
            <a:ext cx="8115300" cy="6028526"/>
            <a:chOff x="0" y="0"/>
            <a:chExt cx="1257272" cy="933976"/>
          </a:xfrm>
        </p:grpSpPr>
        <p:sp>
          <p:nvSpPr>
            <p:cNvPr name="Freeform 5" id="5"/>
            <p:cNvSpPr/>
            <p:nvPr/>
          </p:nvSpPr>
          <p:spPr>
            <a:xfrm flipH="false" flipV="false" rot="0">
              <a:off x="0" y="0"/>
              <a:ext cx="1257272" cy="933976"/>
            </a:xfrm>
            <a:custGeom>
              <a:avLst/>
              <a:gdLst/>
              <a:ahLst/>
              <a:cxnLst/>
              <a:rect r="r" b="b" t="t" l="l"/>
              <a:pathLst>
                <a:path h="933976" w="1257272">
                  <a:moveTo>
                    <a:pt x="0" y="0"/>
                  </a:moveTo>
                  <a:lnTo>
                    <a:pt x="1257272" y="0"/>
                  </a:lnTo>
                  <a:lnTo>
                    <a:pt x="1257272" y="933976"/>
                  </a:lnTo>
                  <a:lnTo>
                    <a:pt x="0" y="933976"/>
                  </a:lnTo>
                  <a:close/>
                </a:path>
              </a:pathLst>
            </a:custGeom>
            <a:blipFill>
              <a:blip r:embed="rId5"/>
              <a:stretch>
                <a:fillRect l="-6122" t="0" r="-6122" b="0"/>
              </a:stretch>
            </a:blipFill>
            <a:ln w="38100" cap="sq">
              <a:solidFill>
                <a:srgbClr val="FFFFFF"/>
              </a:solidFill>
              <a:prstDash val="solid"/>
              <a:miter/>
            </a:ln>
          </p:spPr>
        </p:sp>
      </p:grpSp>
      <p:sp>
        <p:nvSpPr>
          <p:cNvPr name="Freeform 6" id="6"/>
          <p:cNvSpPr/>
          <p:nvPr/>
        </p:nvSpPr>
        <p:spPr>
          <a:xfrm flipH="false" flipV="false" rot="-10800000">
            <a:off x="12405161" y="-2678193"/>
            <a:ext cx="11777918" cy="3918834"/>
          </a:xfrm>
          <a:custGeom>
            <a:avLst/>
            <a:gdLst/>
            <a:ahLst/>
            <a:cxnLst/>
            <a:rect r="r" b="b" t="t" l="l"/>
            <a:pathLst>
              <a:path h="3918834" w="11777918">
                <a:moveTo>
                  <a:pt x="0" y="0"/>
                </a:moveTo>
                <a:lnTo>
                  <a:pt x="11777918" y="0"/>
                </a:lnTo>
                <a:lnTo>
                  <a:pt x="11777918" y="3918835"/>
                </a:lnTo>
                <a:lnTo>
                  <a:pt x="0" y="39188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4619138" y="1323975"/>
            <a:ext cx="9049725" cy="1700651"/>
          </a:xfrm>
          <a:prstGeom prst="rect">
            <a:avLst/>
          </a:prstGeom>
        </p:spPr>
        <p:txBody>
          <a:bodyPr anchor="t" rtlCol="false" tIns="0" lIns="0" bIns="0" rIns="0">
            <a:spAutoFit/>
          </a:bodyPr>
          <a:lstStyle/>
          <a:p>
            <a:pPr algn="ctr">
              <a:lnSpc>
                <a:spcPts val="6293"/>
              </a:lnSpc>
            </a:pPr>
            <a:r>
              <a:rPr lang="en-US" sz="7966">
                <a:solidFill>
                  <a:srgbClr val="FFFFFF"/>
                </a:solidFill>
                <a:latin typeface="Adriana"/>
                <a:ea typeface="Adriana"/>
                <a:cs typeface="Adriana"/>
                <a:sym typeface="Adriana"/>
              </a:rPr>
              <a:t>THE FUTURE OF INNOVATION</a:t>
            </a:r>
          </a:p>
        </p:txBody>
      </p:sp>
      <p:sp>
        <p:nvSpPr>
          <p:cNvPr name="Freeform 8" id="8"/>
          <p:cNvSpPr/>
          <p:nvPr/>
        </p:nvSpPr>
        <p:spPr>
          <a:xfrm flipH="true" flipV="true" rot="0">
            <a:off x="-5981304" y="-310449"/>
            <a:ext cx="8192396" cy="7820014"/>
          </a:xfrm>
          <a:custGeom>
            <a:avLst/>
            <a:gdLst/>
            <a:ahLst/>
            <a:cxnLst/>
            <a:rect r="r" b="b" t="t" l="l"/>
            <a:pathLst>
              <a:path h="7820014" w="8192396">
                <a:moveTo>
                  <a:pt x="8192396" y="7820014"/>
                </a:moveTo>
                <a:lnTo>
                  <a:pt x="0" y="7820014"/>
                </a:lnTo>
                <a:lnTo>
                  <a:pt x="0" y="0"/>
                </a:lnTo>
                <a:lnTo>
                  <a:pt x="8192396" y="0"/>
                </a:lnTo>
                <a:lnTo>
                  <a:pt x="8192396" y="782001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28700" y="3542408"/>
            <a:ext cx="7712685" cy="5346107"/>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3093649" y="-1239685"/>
            <a:ext cx="13774294" cy="2460945"/>
          </a:xfrm>
          <a:custGeom>
            <a:avLst/>
            <a:gdLst/>
            <a:ahLst/>
            <a:cxnLst/>
            <a:rect r="r" b="b" t="t" l="l"/>
            <a:pathLst>
              <a:path h="2460945" w="13774294">
                <a:moveTo>
                  <a:pt x="0" y="0"/>
                </a:moveTo>
                <a:lnTo>
                  <a:pt x="13774293" y="0"/>
                </a:lnTo>
                <a:lnTo>
                  <a:pt x="13774293" y="2460945"/>
                </a:lnTo>
                <a:lnTo>
                  <a:pt x="0" y="246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028700"/>
            <a:ext cx="8711502" cy="8711502"/>
          </a:xfrm>
          <a:custGeom>
            <a:avLst/>
            <a:gdLst/>
            <a:ahLst/>
            <a:cxnLst/>
            <a:rect r="r" b="b" t="t" l="l"/>
            <a:pathLst>
              <a:path h="8711502" w="8711502">
                <a:moveTo>
                  <a:pt x="0" y="0"/>
                </a:moveTo>
                <a:lnTo>
                  <a:pt x="8711502" y="0"/>
                </a:lnTo>
                <a:lnTo>
                  <a:pt x="8711502" y="8711502"/>
                </a:lnTo>
                <a:lnTo>
                  <a:pt x="0" y="87115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2105600" y="2214392"/>
            <a:ext cx="7108700" cy="6340119"/>
            <a:chOff x="0" y="0"/>
            <a:chExt cx="1101324" cy="982250"/>
          </a:xfrm>
        </p:grpSpPr>
        <p:sp>
          <p:nvSpPr>
            <p:cNvPr name="Freeform 6" id="6"/>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7"/>
              <a:stretch>
                <a:fillRect l="-16830" t="0" r="-16830" b="0"/>
              </a:stretch>
            </a:blipFill>
            <a:ln w="38100" cap="sq">
              <a:solidFill>
                <a:srgbClr val="FFFFFF"/>
              </a:solidFill>
              <a:prstDash val="solid"/>
              <a:miter/>
            </a:ln>
          </p:spPr>
        </p:sp>
      </p:grpSp>
      <p:sp>
        <p:nvSpPr>
          <p:cNvPr name="Freeform 7" id="7"/>
          <p:cNvSpPr/>
          <p:nvPr/>
        </p:nvSpPr>
        <p:spPr>
          <a:xfrm flipH="true" flipV="true" rot="0">
            <a:off x="10448848" y="-3211221"/>
            <a:ext cx="8192396" cy="7820014"/>
          </a:xfrm>
          <a:custGeom>
            <a:avLst/>
            <a:gdLst/>
            <a:ahLst/>
            <a:cxnLst/>
            <a:rect r="r" b="b" t="t" l="l"/>
            <a:pathLst>
              <a:path h="7820014" w="8192396">
                <a:moveTo>
                  <a:pt x="8192396" y="7820014"/>
                </a:moveTo>
                <a:lnTo>
                  <a:pt x="0" y="7820014"/>
                </a:lnTo>
                <a:lnTo>
                  <a:pt x="0" y="0"/>
                </a:lnTo>
                <a:lnTo>
                  <a:pt x="8192396" y="0"/>
                </a:lnTo>
                <a:lnTo>
                  <a:pt x="8192396" y="782001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0154660" y="4904068"/>
            <a:ext cx="6773544" cy="1700651"/>
          </a:xfrm>
          <a:prstGeom prst="rect">
            <a:avLst/>
          </a:prstGeom>
        </p:spPr>
        <p:txBody>
          <a:bodyPr anchor="t" rtlCol="false" tIns="0" lIns="0" bIns="0" rIns="0">
            <a:spAutoFit/>
          </a:bodyPr>
          <a:lstStyle/>
          <a:p>
            <a:pPr algn="ctr">
              <a:lnSpc>
                <a:spcPts val="6293"/>
              </a:lnSpc>
            </a:pPr>
            <a:r>
              <a:rPr lang="en-US" sz="7966">
                <a:solidFill>
                  <a:srgbClr val="FFFFFF"/>
                </a:solidFill>
                <a:latin typeface="Adriana"/>
                <a:ea typeface="Adriana"/>
                <a:cs typeface="Adriana"/>
                <a:sym typeface="Adriana"/>
              </a:rPr>
              <a:t>5G NETWORKS</a:t>
            </a:r>
          </a:p>
        </p:txBody>
      </p:sp>
      <p:sp>
        <p:nvSpPr>
          <p:cNvPr name="TextBox 9" id="9"/>
          <p:cNvSpPr txBox="true"/>
          <p:nvPr/>
        </p:nvSpPr>
        <p:spPr>
          <a:xfrm rot="0">
            <a:off x="10191024" y="6803074"/>
            <a:ext cx="6737179" cy="2055176"/>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5G technology delivers higher speeds, lower latency, and stronger connectivity, enabling advanced applications such as smart cities, autonomous vehicles, and real-time communication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0">
            <a:off x="-531576" y="-799208"/>
            <a:ext cx="5749219" cy="5487891"/>
          </a:xfrm>
          <a:custGeom>
            <a:avLst/>
            <a:gdLst/>
            <a:ahLst/>
            <a:cxnLst/>
            <a:rect r="r" b="b" t="t" l="l"/>
            <a:pathLst>
              <a:path h="5487891" w="5749219">
                <a:moveTo>
                  <a:pt x="5749218" y="5487890"/>
                </a:moveTo>
                <a:lnTo>
                  <a:pt x="0" y="5487890"/>
                </a:lnTo>
                <a:lnTo>
                  <a:pt x="0" y="0"/>
                </a:lnTo>
                <a:lnTo>
                  <a:pt x="5749218" y="0"/>
                </a:lnTo>
                <a:lnTo>
                  <a:pt x="5749218" y="548789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61196" y="4255073"/>
            <a:ext cx="4943404" cy="898602"/>
            <a:chOff x="0" y="0"/>
            <a:chExt cx="1301967" cy="236669"/>
          </a:xfrm>
        </p:grpSpPr>
        <p:sp>
          <p:nvSpPr>
            <p:cNvPr name="Freeform 5" id="5"/>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6" id="6"/>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6904794" y="4255073"/>
            <a:ext cx="4943404" cy="898602"/>
            <a:chOff x="0" y="0"/>
            <a:chExt cx="1301967" cy="236669"/>
          </a:xfrm>
        </p:grpSpPr>
        <p:sp>
          <p:nvSpPr>
            <p:cNvPr name="Freeform 8" id="8"/>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9" id="9"/>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2548392" y="4255073"/>
            <a:ext cx="4943404" cy="898602"/>
            <a:chOff x="0" y="0"/>
            <a:chExt cx="1301967" cy="236669"/>
          </a:xfrm>
        </p:grpSpPr>
        <p:sp>
          <p:nvSpPr>
            <p:cNvPr name="Freeform 11" id="11"/>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12" id="12"/>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261196" y="5443393"/>
            <a:ext cx="4943404" cy="898602"/>
            <a:chOff x="0" y="0"/>
            <a:chExt cx="1301967" cy="236669"/>
          </a:xfrm>
        </p:grpSpPr>
        <p:sp>
          <p:nvSpPr>
            <p:cNvPr name="Freeform 14" id="14"/>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15" id="15"/>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6904794" y="5443393"/>
            <a:ext cx="4943404" cy="898602"/>
            <a:chOff x="0" y="0"/>
            <a:chExt cx="1301967" cy="236669"/>
          </a:xfrm>
        </p:grpSpPr>
        <p:sp>
          <p:nvSpPr>
            <p:cNvPr name="Freeform 17" id="17"/>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18" id="18"/>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2548392" y="5443393"/>
            <a:ext cx="4943404" cy="898602"/>
            <a:chOff x="0" y="0"/>
            <a:chExt cx="1301967" cy="236669"/>
          </a:xfrm>
        </p:grpSpPr>
        <p:sp>
          <p:nvSpPr>
            <p:cNvPr name="Freeform 20" id="20"/>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21" id="21"/>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261196" y="6631714"/>
            <a:ext cx="4943404" cy="898602"/>
            <a:chOff x="0" y="0"/>
            <a:chExt cx="1301967" cy="236669"/>
          </a:xfrm>
        </p:grpSpPr>
        <p:sp>
          <p:nvSpPr>
            <p:cNvPr name="Freeform 23" id="23"/>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24" id="24"/>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6904794" y="6631714"/>
            <a:ext cx="4943404" cy="898602"/>
            <a:chOff x="0" y="0"/>
            <a:chExt cx="1301967" cy="236669"/>
          </a:xfrm>
        </p:grpSpPr>
        <p:sp>
          <p:nvSpPr>
            <p:cNvPr name="Freeform 26" id="26"/>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27" id="27"/>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12548392" y="6631714"/>
            <a:ext cx="4943404" cy="898602"/>
            <a:chOff x="0" y="0"/>
            <a:chExt cx="1301967" cy="236669"/>
          </a:xfrm>
        </p:grpSpPr>
        <p:sp>
          <p:nvSpPr>
            <p:cNvPr name="Freeform 29" id="29"/>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30" id="30"/>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261196" y="7820034"/>
            <a:ext cx="4943404" cy="898602"/>
            <a:chOff x="0" y="0"/>
            <a:chExt cx="1301967" cy="236669"/>
          </a:xfrm>
        </p:grpSpPr>
        <p:sp>
          <p:nvSpPr>
            <p:cNvPr name="Freeform 32" id="32"/>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33" id="33"/>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0">
            <a:off x="6904794" y="7820034"/>
            <a:ext cx="4943404" cy="898602"/>
            <a:chOff x="0" y="0"/>
            <a:chExt cx="1301967" cy="236669"/>
          </a:xfrm>
        </p:grpSpPr>
        <p:sp>
          <p:nvSpPr>
            <p:cNvPr name="Freeform 35" id="35"/>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36" id="36"/>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sp>
        <p:nvSpPr>
          <p:cNvPr name="Freeform 37" id="37"/>
          <p:cNvSpPr/>
          <p:nvPr/>
        </p:nvSpPr>
        <p:spPr>
          <a:xfrm flipH="true" flipV="true" rot="0">
            <a:off x="14005462" y="7788652"/>
            <a:ext cx="5749219" cy="5487891"/>
          </a:xfrm>
          <a:custGeom>
            <a:avLst/>
            <a:gdLst/>
            <a:ahLst/>
            <a:cxnLst/>
            <a:rect r="r" b="b" t="t" l="l"/>
            <a:pathLst>
              <a:path h="5487891" w="5749219">
                <a:moveTo>
                  <a:pt x="5749219" y="5487890"/>
                </a:moveTo>
                <a:lnTo>
                  <a:pt x="0" y="5487890"/>
                </a:lnTo>
                <a:lnTo>
                  <a:pt x="0" y="0"/>
                </a:lnTo>
                <a:lnTo>
                  <a:pt x="5749219" y="0"/>
                </a:lnTo>
                <a:lnTo>
                  <a:pt x="5749219" y="548789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8" id="38"/>
          <p:cNvGrpSpPr/>
          <p:nvPr/>
        </p:nvGrpSpPr>
        <p:grpSpPr>
          <a:xfrm rot="0">
            <a:off x="12548392" y="7820034"/>
            <a:ext cx="4943404" cy="898602"/>
            <a:chOff x="0" y="0"/>
            <a:chExt cx="1301967" cy="236669"/>
          </a:xfrm>
        </p:grpSpPr>
        <p:sp>
          <p:nvSpPr>
            <p:cNvPr name="Freeform 39" id="39"/>
            <p:cNvSpPr/>
            <p:nvPr/>
          </p:nvSpPr>
          <p:spPr>
            <a:xfrm flipH="false" flipV="false" rot="0">
              <a:off x="0" y="0"/>
              <a:ext cx="1301967" cy="236669"/>
            </a:xfrm>
            <a:custGeom>
              <a:avLst/>
              <a:gdLst/>
              <a:ahLst/>
              <a:cxnLst/>
              <a:rect r="r" b="b" t="t" l="l"/>
              <a:pathLst>
                <a:path h="236669" w="1301967">
                  <a:moveTo>
                    <a:pt x="0" y="0"/>
                  </a:moveTo>
                  <a:lnTo>
                    <a:pt x="1301967" y="0"/>
                  </a:lnTo>
                  <a:lnTo>
                    <a:pt x="1301967" y="236669"/>
                  </a:lnTo>
                  <a:lnTo>
                    <a:pt x="0" y="236669"/>
                  </a:lnTo>
                  <a:close/>
                </a:path>
              </a:pathLst>
            </a:custGeom>
            <a:solidFill>
              <a:srgbClr val="FFFFFF"/>
            </a:solidFill>
            <a:ln cap="sq">
              <a:noFill/>
              <a:prstDash val="solid"/>
              <a:miter/>
            </a:ln>
          </p:spPr>
        </p:sp>
        <p:sp>
          <p:nvSpPr>
            <p:cNvPr name="TextBox 40" id="40"/>
            <p:cNvSpPr txBox="true"/>
            <p:nvPr/>
          </p:nvSpPr>
          <p:spPr>
            <a:xfrm>
              <a:off x="0" y="-38100"/>
              <a:ext cx="1301967" cy="274769"/>
            </a:xfrm>
            <a:prstGeom prst="rect">
              <a:avLst/>
            </a:prstGeom>
          </p:spPr>
          <p:txBody>
            <a:bodyPr anchor="ctr" rtlCol="false" tIns="50800" lIns="50800" bIns="50800" rIns="50800"/>
            <a:lstStyle/>
            <a:p>
              <a:pPr algn="ctr">
                <a:lnSpc>
                  <a:spcPts val="2659"/>
                </a:lnSpc>
                <a:spcBef>
                  <a:spcPct val="0"/>
                </a:spcBef>
              </a:pPr>
            </a:p>
          </p:txBody>
        </p:sp>
      </p:grpSp>
      <p:sp>
        <p:nvSpPr>
          <p:cNvPr name="Freeform 41" id="41"/>
          <p:cNvSpPr/>
          <p:nvPr/>
        </p:nvSpPr>
        <p:spPr>
          <a:xfrm flipH="false" flipV="false" rot="0">
            <a:off x="796204" y="4233215"/>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2" id="42"/>
          <p:cNvSpPr/>
          <p:nvPr/>
        </p:nvSpPr>
        <p:spPr>
          <a:xfrm flipH="false" flipV="false" rot="0">
            <a:off x="-1669505" y="9234632"/>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3" id="43"/>
          <p:cNvSpPr txBox="true"/>
          <p:nvPr/>
        </p:nvSpPr>
        <p:spPr>
          <a:xfrm rot="0">
            <a:off x="2616527" y="1909618"/>
            <a:ext cx="13519937" cy="2152250"/>
          </a:xfrm>
          <a:prstGeom prst="rect">
            <a:avLst/>
          </a:prstGeom>
        </p:spPr>
        <p:txBody>
          <a:bodyPr anchor="t" rtlCol="false" tIns="0" lIns="0" bIns="0" rIns="0">
            <a:spAutoFit/>
          </a:bodyPr>
          <a:lstStyle/>
          <a:p>
            <a:pPr algn="ctr">
              <a:lnSpc>
                <a:spcPts val="7942"/>
              </a:lnSpc>
            </a:pPr>
            <a:r>
              <a:rPr lang="en-US" sz="10053">
                <a:solidFill>
                  <a:srgbClr val="FFFFFF"/>
                </a:solidFill>
                <a:latin typeface="Adriana"/>
                <a:ea typeface="Adriana"/>
                <a:cs typeface="Adriana"/>
                <a:sym typeface="Adriana"/>
              </a:rPr>
              <a:t>TECHNOLOGY TRENDS</a:t>
            </a:r>
          </a:p>
        </p:txBody>
      </p:sp>
      <p:sp>
        <p:nvSpPr>
          <p:cNvPr name="TextBox 44" id="44"/>
          <p:cNvSpPr txBox="true"/>
          <p:nvPr/>
        </p:nvSpPr>
        <p:spPr>
          <a:xfrm rot="0">
            <a:off x="2018016" y="4458852"/>
            <a:ext cx="4347300"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AI-powered automation</a:t>
            </a:r>
          </a:p>
        </p:txBody>
      </p:sp>
      <p:sp>
        <p:nvSpPr>
          <p:cNvPr name="TextBox 45" id="45"/>
          <p:cNvSpPr txBox="true"/>
          <p:nvPr/>
        </p:nvSpPr>
        <p:spPr>
          <a:xfrm rot="0">
            <a:off x="7705053" y="4458852"/>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Cloud-first strategy</a:t>
            </a:r>
          </a:p>
        </p:txBody>
      </p:sp>
      <p:sp>
        <p:nvSpPr>
          <p:cNvPr name="TextBox 46" id="46"/>
          <p:cNvSpPr txBox="true"/>
          <p:nvPr/>
        </p:nvSpPr>
        <p:spPr>
          <a:xfrm rot="0">
            <a:off x="13596960" y="4458852"/>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Hybrid workplaces</a:t>
            </a:r>
          </a:p>
        </p:txBody>
      </p:sp>
      <p:sp>
        <p:nvSpPr>
          <p:cNvPr name="TextBox 47" id="47"/>
          <p:cNvSpPr txBox="true"/>
          <p:nvPr/>
        </p:nvSpPr>
        <p:spPr>
          <a:xfrm rot="0">
            <a:off x="2072293" y="5647173"/>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Big data analytics</a:t>
            </a:r>
          </a:p>
        </p:txBody>
      </p:sp>
      <p:sp>
        <p:nvSpPr>
          <p:cNvPr name="TextBox 48" id="48"/>
          <p:cNvSpPr txBox="true"/>
          <p:nvPr/>
        </p:nvSpPr>
        <p:spPr>
          <a:xfrm rot="0">
            <a:off x="7705053" y="5647173"/>
            <a:ext cx="3608280"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Digital transformation</a:t>
            </a:r>
          </a:p>
        </p:txBody>
      </p:sp>
      <p:sp>
        <p:nvSpPr>
          <p:cNvPr name="TextBox 49" id="49"/>
          <p:cNvSpPr txBox="true"/>
          <p:nvPr/>
        </p:nvSpPr>
        <p:spPr>
          <a:xfrm rot="0">
            <a:off x="13596960" y="5647173"/>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Smart devices</a:t>
            </a:r>
          </a:p>
        </p:txBody>
      </p:sp>
      <p:sp>
        <p:nvSpPr>
          <p:cNvPr name="TextBox 50" id="50"/>
          <p:cNvSpPr txBox="true"/>
          <p:nvPr/>
        </p:nvSpPr>
        <p:spPr>
          <a:xfrm rot="0">
            <a:off x="2072293" y="6835493"/>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Edge computing</a:t>
            </a:r>
          </a:p>
        </p:txBody>
      </p:sp>
      <p:sp>
        <p:nvSpPr>
          <p:cNvPr name="TextBox 51" id="51"/>
          <p:cNvSpPr txBox="true"/>
          <p:nvPr/>
        </p:nvSpPr>
        <p:spPr>
          <a:xfrm rot="0">
            <a:off x="7705053" y="6835493"/>
            <a:ext cx="4113258"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Sustainable technology</a:t>
            </a:r>
          </a:p>
        </p:txBody>
      </p:sp>
      <p:sp>
        <p:nvSpPr>
          <p:cNvPr name="TextBox 52" id="52"/>
          <p:cNvSpPr txBox="true"/>
          <p:nvPr/>
        </p:nvSpPr>
        <p:spPr>
          <a:xfrm rot="0">
            <a:off x="13596960" y="6835493"/>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Predictive analytics</a:t>
            </a:r>
          </a:p>
        </p:txBody>
      </p:sp>
      <p:sp>
        <p:nvSpPr>
          <p:cNvPr name="TextBox 53" id="53"/>
          <p:cNvSpPr txBox="true"/>
          <p:nvPr/>
        </p:nvSpPr>
        <p:spPr>
          <a:xfrm rot="0">
            <a:off x="2072293" y="8023814"/>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Process automation</a:t>
            </a:r>
          </a:p>
        </p:txBody>
      </p:sp>
      <p:sp>
        <p:nvSpPr>
          <p:cNvPr name="TextBox 54" id="54"/>
          <p:cNvSpPr txBox="true"/>
          <p:nvPr/>
        </p:nvSpPr>
        <p:spPr>
          <a:xfrm rot="0">
            <a:off x="7705053" y="8023814"/>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Digital payments</a:t>
            </a:r>
          </a:p>
        </p:txBody>
      </p:sp>
      <p:sp>
        <p:nvSpPr>
          <p:cNvPr name="TextBox 55" id="55"/>
          <p:cNvSpPr txBox="true"/>
          <p:nvPr/>
        </p:nvSpPr>
        <p:spPr>
          <a:xfrm rot="0">
            <a:off x="13596960" y="8023814"/>
            <a:ext cx="3283111" cy="458499"/>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Cyber resilience</a:t>
            </a:r>
          </a:p>
        </p:txBody>
      </p:sp>
      <p:sp>
        <p:nvSpPr>
          <p:cNvPr name="Freeform 56" id="56"/>
          <p:cNvSpPr/>
          <p:nvPr/>
        </p:nvSpPr>
        <p:spPr>
          <a:xfrm flipH="false" flipV="false" rot="0">
            <a:off x="796204" y="5444767"/>
            <a:ext cx="929984" cy="929984"/>
          </a:xfrm>
          <a:custGeom>
            <a:avLst/>
            <a:gdLst/>
            <a:ahLst/>
            <a:cxnLst/>
            <a:rect r="r" b="b" t="t" l="l"/>
            <a:pathLst>
              <a:path h="929984" w="929984">
                <a:moveTo>
                  <a:pt x="0" y="0"/>
                </a:moveTo>
                <a:lnTo>
                  <a:pt x="929984" y="0"/>
                </a:lnTo>
                <a:lnTo>
                  <a:pt x="929984" y="929985"/>
                </a:lnTo>
                <a:lnTo>
                  <a:pt x="0" y="929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7" id="57"/>
          <p:cNvSpPr/>
          <p:nvPr/>
        </p:nvSpPr>
        <p:spPr>
          <a:xfrm flipH="false" flipV="false" rot="0">
            <a:off x="796204" y="6622189"/>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8" id="58"/>
          <p:cNvSpPr/>
          <p:nvPr/>
        </p:nvSpPr>
        <p:spPr>
          <a:xfrm flipH="false" flipV="false" rot="0">
            <a:off x="796204" y="7809348"/>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9" id="59"/>
          <p:cNvSpPr/>
          <p:nvPr/>
        </p:nvSpPr>
        <p:spPr>
          <a:xfrm flipH="false" flipV="false" rot="0">
            <a:off x="6570192" y="4246437"/>
            <a:ext cx="929984" cy="929984"/>
          </a:xfrm>
          <a:custGeom>
            <a:avLst/>
            <a:gdLst/>
            <a:ahLst/>
            <a:cxnLst/>
            <a:rect r="r" b="b" t="t" l="l"/>
            <a:pathLst>
              <a:path h="929984" w="929984">
                <a:moveTo>
                  <a:pt x="0" y="0"/>
                </a:moveTo>
                <a:lnTo>
                  <a:pt x="929985" y="0"/>
                </a:lnTo>
                <a:lnTo>
                  <a:pt x="929985"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0" id="60"/>
          <p:cNvSpPr/>
          <p:nvPr/>
        </p:nvSpPr>
        <p:spPr>
          <a:xfrm flipH="false" flipV="false" rot="0">
            <a:off x="6570192" y="5424071"/>
            <a:ext cx="929984" cy="929984"/>
          </a:xfrm>
          <a:custGeom>
            <a:avLst/>
            <a:gdLst/>
            <a:ahLst/>
            <a:cxnLst/>
            <a:rect r="r" b="b" t="t" l="l"/>
            <a:pathLst>
              <a:path h="929984" w="929984">
                <a:moveTo>
                  <a:pt x="0" y="0"/>
                </a:moveTo>
                <a:lnTo>
                  <a:pt x="929985" y="0"/>
                </a:lnTo>
                <a:lnTo>
                  <a:pt x="929985" y="929985"/>
                </a:lnTo>
                <a:lnTo>
                  <a:pt x="0" y="929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1" id="61"/>
          <p:cNvSpPr/>
          <p:nvPr/>
        </p:nvSpPr>
        <p:spPr>
          <a:xfrm flipH="false" flipV="false" rot="0">
            <a:off x="6570192" y="6601493"/>
            <a:ext cx="929984" cy="929984"/>
          </a:xfrm>
          <a:custGeom>
            <a:avLst/>
            <a:gdLst/>
            <a:ahLst/>
            <a:cxnLst/>
            <a:rect r="r" b="b" t="t" l="l"/>
            <a:pathLst>
              <a:path h="929984" w="929984">
                <a:moveTo>
                  <a:pt x="0" y="0"/>
                </a:moveTo>
                <a:lnTo>
                  <a:pt x="929985" y="0"/>
                </a:lnTo>
                <a:lnTo>
                  <a:pt x="929985"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2" id="62"/>
          <p:cNvSpPr/>
          <p:nvPr/>
        </p:nvSpPr>
        <p:spPr>
          <a:xfrm flipH="false" flipV="false" rot="0">
            <a:off x="6570192" y="7788652"/>
            <a:ext cx="929984" cy="929984"/>
          </a:xfrm>
          <a:custGeom>
            <a:avLst/>
            <a:gdLst/>
            <a:ahLst/>
            <a:cxnLst/>
            <a:rect r="r" b="b" t="t" l="l"/>
            <a:pathLst>
              <a:path h="929984" w="929984">
                <a:moveTo>
                  <a:pt x="0" y="0"/>
                </a:moveTo>
                <a:lnTo>
                  <a:pt x="929985" y="0"/>
                </a:lnTo>
                <a:lnTo>
                  <a:pt x="929985"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3" id="63"/>
          <p:cNvSpPr/>
          <p:nvPr/>
        </p:nvSpPr>
        <p:spPr>
          <a:xfrm flipH="false" flipV="false" rot="0">
            <a:off x="12344181" y="4233215"/>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4" id="64"/>
          <p:cNvSpPr/>
          <p:nvPr/>
        </p:nvSpPr>
        <p:spPr>
          <a:xfrm flipH="false" flipV="false" rot="0">
            <a:off x="12344181" y="5454292"/>
            <a:ext cx="929984" cy="929984"/>
          </a:xfrm>
          <a:custGeom>
            <a:avLst/>
            <a:gdLst/>
            <a:ahLst/>
            <a:cxnLst/>
            <a:rect r="r" b="b" t="t" l="l"/>
            <a:pathLst>
              <a:path h="929984" w="929984">
                <a:moveTo>
                  <a:pt x="0" y="0"/>
                </a:moveTo>
                <a:lnTo>
                  <a:pt x="929984" y="0"/>
                </a:lnTo>
                <a:lnTo>
                  <a:pt x="929984" y="929985"/>
                </a:lnTo>
                <a:lnTo>
                  <a:pt x="0" y="9299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5" id="65"/>
          <p:cNvSpPr/>
          <p:nvPr/>
        </p:nvSpPr>
        <p:spPr>
          <a:xfrm flipH="false" flipV="false" rot="0">
            <a:off x="12344181" y="6631714"/>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6" id="66"/>
          <p:cNvSpPr/>
          <p:nvPr/>
        </p:nvSpPr>
        <p:spPr>
          <a:xfrm flipH="false" flipV="false" rot="0">
            <a:off x="12344181" y="7818873"/>
            <a:ext cx="929984" cy="929984"/>
          </a:xfrm>
          <a:custGeom>
            <a:avLst/>
            <a:gdLst/>
            <a:ahLst/>
            <a:cxnLst/>
            <a:rect r="r" b="b" t="t" l="l"/>
            <a:pathLst>
              <a:path h="929984" w="929984">
                <a:moveTo>
                  <a:pt x="0" y="0"/>
                </a:moveTo>
                <a:lnTo>
                  <a:pt x="929984" y="0"/>
                </a:lnTo>
                <a:lnTo>
                  <a:pt x="929984" y="929984"/>
                </a:lnTo>
                <a:lnTo>
                  <a:pt x="0" y="9299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1122735" y="4451880"/>
            <a:ext cx="20907898" cy="9655647"/>
          </a:xfrm>
          <a:custGeom>
            <a:avLst/>
            <a:gdLst/>
            <a:ahLst/>
            <a:cxnLst/>
            <a:rect r="r" b="b" t="t" l="l"/>
            <a:pathLst>
              <a:path h="9655647" w="20907898">
                <a:moveTo>
                  <a:pt x="0" y="0"/>
                </a:moveTo>
                <a:lnTo>
                  <a:pt x="20907898" y="0"/>
                </a:lnTo>
                <a:lnTo>
                  <a:pt x="20907898" y="9655647"/>
                </a:lnTo>
                <a:lnTo>
                  <a:pt x="0" y="96556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43867" y="4451880"/>
            <a:ext cx="15000266" cy="3763703"/>
          </a:xfrm>
          <a:custGeom>
            <a:avLst/>
            <a:gdLst/>
            <a:ahLst/>
            <a:cxnLst/>
            <a:rect r="r" b="b" t="t" l="l"/>
            <a:pathLst>
              <a:path h="3763703" w="15000266">
                <a:moveTo>
                  <a:pt x="0" y="0"/>
                </a:moveTo>
                <a:lnTo>
                  <a:pt x="15000266" y="0"/>
                </a:lnTo>
                <a:lnTo>
                  <a:pt x="15000266" y="3763703"/>
                </a:lnTo>
                <a:lnTo>
                  <a:pt x="0" y="37637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0">
            <a:off x="-881652" y="-5535070"/>
            <a:ext cx="20907898" cy="9655647"/>
          </a:xfrm>
          <a:custGeom>
            <a:avLst/>
            <a:gdLst/>
            <a:ahLst/>
            <a:cxnLst/>
            <a:rect r="r" b="b" t="t" l="l"/>
            <a:pathLst>
              <a:path h="9655647" w="20907898">
                <a:moveTo>
                  <a:pt x="0" y="9655647"/>
                </a:moveTo>
                <a:lnTo>
                  <a:pt x="20907897" y="9655647"/>
                </a:lnTo>
                <a:lnTo>
                  <a:pt x="20907897" y="0"/>
                </a:lnTo>
                <a:lnTo>
                  <a:pt x="0" y="0"/>
                </a:lnTo>
                <a:lnTo>
                  <a:pt x="0" y="9655647"/>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384031" y="2299629"/>
            <a:ext cx="13519937" cy="2152250"/>
          </a:xfrm>
          <a:prstGeom prst="rect">
            <a:avLst/>
          </a:prstGeom>
        </p:spPr>
        <p:txBody>
          <a:bodyPr anchor="t" rtlCol="false" tIns="0" lIns="0" bIns="0" rIns="0">
            <a:spAutoFit/>
          </a:bodyPr>
          <a:lstStyle/>
          <a:p>
            <a:pPr algn="ctr">
              <a:lnSpc>
                <a:spcPts val="7942"/>
              </a:lnSpc>
            </a:pPr>
            <a:r>
              <a:rPr lang="en-US" sz="10053">
                <a:solidFill>
                  <a:srgbClr val="FFFFFF"/>
                </a:solidFill>
                <a:latin typeface="Adriana"/>
                <a:ea typeface="Adriana"/>
                <a:cs typeface="Adriana"/>
                <a:sym typeface="Adriana"/>
              </a:rPr>
              <a:t>TECHNOLOGY INSIGHT</a:t>
            </a:r>
          </a:p>
        </p:txBody>
      </p:sp>
      <p:sp>
        <p:nvSpPr>
          <p:cNvPr name="TextBox 7" id="7"/>
          <p:cNvSpPr txBox="true"/>
          <p:nvPr/>
        </p:nvSpPr>
        <p:spPr>
          <a:xfrm rot="0">
            <a:off x="4055553" y="5255176"/>
            <a:ext cx="10551322" cy="1635334"/>
          </a:xfrm>
          <a:prstGeom prst="rect">
            <a:avLst/>
          </a:prstGeom>
        </p:spPr>
        <p:txBody>
          <a:bodyPr anchor="t" rtlCol="false" tIns="0" lIns="0" bIns="0" rIns="0">
            <a:spAutoFit/>
          </a:bodyPr>
          <a:lstStyle/>
          <a:p>
            <a:pPr algn="ctr">
              <a:lnSpc>
                <a:spcPts val="4267"/>
              </a:lnSpc>
            </a:pPr>
            <a:r>
              <a:rPr lang="en-US" sz="3047">
                <a:solidFill>
                  <a:srgbClr val="FFFFFF"/>
                </a:solidFill>
                <a:latin typeface="Poppins"/>
                <a:ea typeface="Poppins"/>
                <a:cs typeface="Poppins"/>
                <a:sym typeface="Poppins"/>
              </a:rPr>
              <a:t>Technology creates value when innovation is combined with creativity, collaboration, and continuous learning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5211287" y="-573866"/>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4373832"/>
            <a:ext cx="3687564" cy="3687564"/>
          </a:xfrm>
          <a:custGeom>
            <a:avLst/>
            <a:gdLst/>
            <a:ahLst/>
            <a:cxnLst/>
            <a:rect r="r" b="b" t="t" l="l"/>
            <a:pathLst>
              <a:path h="3687564" w="3687564">
                <a:moveTo>
                  <a:pt x="0" y="0"/>
                </a:moveTo>
                <a:lnTo>
                  <a:pt x="3687564" y="0"/>
                </a:lnTo>
                <a:lnTo>
                  <a:pt x="3687564" y="3687564"/>
                </a:lnTo>
                <a:lnTo>
                  <a:pt x="0" y="3687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209712" y="4373832"/>
            <a:ext cx="3687564" cy="3687564"/>
          </a:xfrm>
          <a:custGeom>
            <a:avLst/>
            <a:gdLst/>
            <a:ahLst/>
            <a:cxnLst/>
            <a:rect r="r" b="b" t="t" l="l"/>
            <a:pathLst>
              <a:path h="3687564" w="3687564">
                <a:moveTo>
                  <a:pt x="0" y="0"/>
                </a:moveTo>
                <a:lnTo>
                  <a:pt x="3687564" y="0"/>
                </a:lnTo>
                <a:lnTo>
                  <a:pt x="3687564" y="3687564"/>
                </a:lnTo>
                <a:lnTo>
                  <a:pt x="0" y="3687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390724" y="4373832"/>
            <a:ext cx="3687564" cy="3687564"/>
          </a:xfrm>
          <a:custGeom>
            <a:avLst/>
            <a:gdLst/>
            <a:ahLst/>
            <a:cxnLst/>
            <a:rect r="r" b="b" t="t" l="l"/>
            <a:pathLst>
              <a:path h="3687564" w="3687564">
                <a:moveTo>
                  <a:pt x="0" y="0"/>
                </a:moveTo>
                <a:lnTo>
                  <a:pt x="3687564" y="0"/>
                </a:lnTo>
                <a:lnTo>
                  <a:pt x="3687564" y="3687564"/>
                </a:lnTo>
                <a:lnTo>
                  <a:pt x="0" y="3687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571736" y="4373832"/>
            <a:ext cx="3687564" cy="3687564"/>
          </a:xfrm>
          <a:custGeom>
            <a:avLst/>
            <a:gdLst/>
            <a:ahLst/>
            <a:cxnLst/>
            <a:rect r="r" b="b" t="t" l="l"/>
            <a:pathLst>
              <a:path h="3687564" w="3687564">
                <a:moveTo>
                  <a:pt x="0" y="0"/>
                </a:moveTo>
                <a:lnTo>
                  <a:pt x="3687564" y="0"/>
                </a:lnTo>
                <a:lnTo>
                  <a:pt x="3687564" y="3687564"/>
                </a:lnTo>
                <a:lnTo>
                  <a:pt x="0" y="3687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471968" y="4920768"/>
            <a:ext cx="2929472" cy="2612742"/>
            <a:chOff x="0" y="0"/>
            <a:chExt cx="1101324" cy="982250"/>
          </a:xfrm>
        </p:grpSpPr>
        <p:sp>
          <p:nvSpPr>
            <p:cNvPr name="Freeform 9" id="9"/>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7"/>
              <a:stretch>
                <a:fillRect l="-9675" t="0" r="-9675" b="0"/>
              </a:stretch>
            </a:blipFill>
            <a:ln w="38100" cap="sq">
              <a:solidFill>
                <a:srgbClr val="FFFFFF"/>
              </a:solidFill>
              <a:prstDash val="solid"/>
              <a:miter/>
            </a:ln>
          </p:spPr>
        </p:sp>
      </p:grpSp>
      <p:grpSp>
        <p:nvGrpSpPr>
          <p:cNvPr name="Group 10" id="10"/>
          <p:cNvGrpSpPr/>
          <p:nvPr/>
        </p:nvGrpSpPr>
        <p:grpSpPr>
          <a:xfrm rot="0">
            <a:off x="5684008" y="4863618"/>
            <a:ext cx="2929472" cy="2612742"/>
            <a:chOff x="0" y="0"/>
            <a:chExt cx="1101324" cy="982250"/>
          </a:xfrm>
        </p:grpSpPr>
        <p:sp>
          <p:nvSpPr>
            <p:cNvPr name="Freeform 11" id="11"/>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8"/>
              <a:stretch>
                <a:fillRect l="-16932" t="0" r="-16932" b="0"/>
              </a:stretch>
            </a:blipFill>
            <a:ln w="38100" cap="sq">
              <a:solidFill>
                <a:srgbClr val="FFFFFF"/>
              </a:solidFill>
              <a:prstDash val="solid"/>
              <a:miter/>
            </a:ln>
          </p:spPr>
        </p:sp>
      </p:grpSp>
      <p:grpSp>
        <p:nvGrpSpPr>
          <p:cNvPr name="Group 12" id="12"/>
          <p:cNvGrpSpPr/>
          <p:nvPr/>
        </p:nvGrpSpPr>
        <p:grpSpPr>
          <a:xfrm rot="0">
            <a:off x="9868826" y="4920768"/>
            <a:ext cx="2929472" cy="2612742"/>
            <a:chOff x="0" y="0"/>
            <a:chExt cx="1101324" cy="982250"/>
          </a:xfrm>
        </p:grpSpPr>
        <p:sp>
          <p:nvSpPr>
            <p:cNvPr name="Freeform 13" id="13"/>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9"/>
              <a:stretch>
                <a:fillRect l="-16932" t="0" r="-16932" b="0"/>
              </a:stretch>
            </a:blipFill>
            <a:ln w="38100" cap="sq">
              <a:solidFill>
                <a:srgbClr val="FFFFFF"/>
              </a:solidFill>
              <a:prstDash val="solid"/>
              <a:miter/>
            </a:ln>
          </p:spPr>
        </p:sp>
      </p:grpSp>
      <p:grpSp>
        <p:nvGrpSpPr>
          <p:cNvPr name="Group 14" id="14"/>
          <p:cNvGrpSpPr/>
          <p:nvPr/>
        </p:nvGrpSpPr>
        <p:grpSpPr>
          <a:xfrm rot="0">
            <a:off x="14080866" y="4863618"/>
            <a:ext cx="2929472" cy="2612742"/>
            <a:chOff x="0" y="0"/>
            <a:chExt cx="1101324" cy="982250"/>
          </a:xfrm>
        </p:grpSpPr>
        <p:sp>
          <p:nvSpPr>
            <p:cNvPr name="Freeform 15" id="15"/>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10"/>
              <a:stretch>
                <a:fillRect l="-16830" t="0" r="-16830" b="0"/>
              </a:stretch>
            </a:blipFill>
            <a:ln w="38100" cap="sq">
              <a:solidFill>
                <a:srgbClr val="FFFFFF"/>
              </a:solidFill>
              <a:prstDash val="solid"/>
              <a:miter/>
            </a:ln>
          </p:spPr>
        </p:sp>
      </p:grpSp>
      <p:sp>
        <p:nvSpPr>
          <p:cNvPr name="TextBox 16" id="16"/>
          <p:cNvSpPr txBox="true"/>
          <p:nvPr/>
        </p:nvSpPr>
        <p:spPr>
          <a:xfrm rot="0">
            <a:off x="2384031" y="2651362"/>
            <a:ext cx="13519937" cy="1152125"/>
          </a:xfrm>
          <a:prstGeom prst="rect">
            <a:avLst/>
          </a:prstGeom>
        </p:spPr>
        <p:txBody>
          <a:bodyPr anchor="t" rtlCol="false" tIns="0" lIns="0" bIns="0" rIns="0">
            <a:spAutoFit/>
          </a:bodyPr>
          <a:lstStyle/>
          <a:p>
            <a:pPr algn="ctr">
              <a:lnSpc>
                <a:spcPts val="7942"/>
              </a:lnSpc>
            </a:pPr>
            <a:r>
              <a:rPr lang="en-US" sz="10053">
                <a:solidFill>
                  <a:srgbClr val="FFFFFF"/>
                </a:solidFill>
                <a:latin typeface="Adriana"/>
                <a:ea typeface="Adriana"/>
                <a:cs typeface="Adriana"/>
                <a:sym typeface="Adriana"/>
              </a:rPr>
              <a:t>SMART DEVICES</a:t>
            </a:r>
          </a:p>
        </p:txBody>
      </p:sp>
      <p:sp>
        <p:nvSpPr>
          <p:cNvPr name="TextBox 17" id="17"/>
          <p:cNvSpPr txBox="true"/>
          <p:nvPr/>
        </p:nvSpPr>
        <p:spPr>
          <a:xfrm rot="0">
            <a:off x="798715" y="8356330"/>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SMARTPHONES</a:t>
            </a:r>
          </a:p>
        </p:txBody>
      </p:sp>
      <p:sp>
        <p:nvSpPr>
          <p:cNvPr name="TextBox 18" id="18"/>
          <p:cNvSpPr txBox="true"/>
          <p:nvPr/>
        </p:nvSpPr>
        <p:spPr>
          <a:xfrm rot="0">
            <a:off x="4979727" y="8356330"/>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SMARTWATCHES</a:t>
            </a:r>
          </a:p>
        </p:txBody>
      </p:sp>
      <p:sp>
        <p:nvSpPr>
          <p:cNvPr name="TextBox 19" id="19"/>
          <p:cNvSpPr txBox="true"/>
          <p:nvPr/>
        </p:nvSpPr>
        <p:spPr>
          <a:xfrm rot="0">
            <a:off x="9160739" y="8356330"/>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SMART TVS</a:t>
            </a:r>
          </a:p>
        </p:txBody>
      </p:sp>
      <p:sp>
        <p:nvSpPr>
          <p:cNvPr name="TextBox 20" id="20"/>
          <p:cNvSpPr txBox="true"/>
          <p:nvPr/>
        </p:nvSpPr>
        <p:spPr>
          <a:xfrm rot="0">
            <a:off x="13456743" y="8356330"/>
            <a:ext cx="3917549"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SMART HOME DEVICES</a:t>
            </a:r>
          </a:p>
        </p:txBody>
      </p:sp>
      <p:sp>
        <p:nvSpPr>
          <p:cNvPr name="Freeform 21" id="21"/>
          <p:cNvSpPr/>
          <p:nvPr/>
        </p:nvSpPr>
        <p:spPr>
          <a:xfrm flipH="true" flipV="true" rot="-5400000">
            <a:off x="-1146496" y="92730"/>
            <a:ext cx="4080137" cy="3894676"/>
          </a:xfrm>
          <a:custGeom>
            <a:avLst/>
            <a:gdLst/>
            <a:ahLst/>
            <a:cxnLst/>
            <a:rect r="r" b="b" t="t" l="l"/>
            <a:pathLst>
              <a:path h="3894676" w="4080137">
                <a:moveTo>
                  <a:pt x="4080137" y="3894676"/>
                </a:moveTo>
                <a:lnTo>
                  <a:pt x="0" y="3894676"/>
                </a:lnTo>
                <a:lnTo>
                  <a:pt x="0" y="0"/>
                </a:lnTo>
                <a:lnTo>
                  <a:pt x="4080137" y="0"/>
                </a:lnTo>
                <a:lnTo>
                  <a:pt x="4080137" y="389467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true" flipV="false" rot="-5400000">
            <a:off x="-1050702" y="9351030"/>
            <a:ext cx="4080137" cy="3894676"/>
          </a:xfrm>
          <a:custGeom>
            <a:avLst/>
            <a:gdLst/>
            <a:ahLst/>
            <a:cxnLst/>
            <a:rect r="r" b="b" t="t" l="l"/>
            <a:pathLst>
              <a:path h="3894676" w="4080137">
                <a:moveTo>
                  <a:pt x="4080136" y="0"/>
                </a:moveTo>
                <a:lnTo>
                  <a:pt x="0" y="0"/>
                </a:lnTo>
                <a:lnTo>
                  <a:pt x="0" y="3894676"/>
                </a:lnTo>
                <a:lnTo>
                  <a:pt x="4080136" y="3894676"/>
                </a:lnTo>
                <a:lnTo>
                  <a:pt x="4080136"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8547798" y="787749"/>
            <a:ext cx="8711502" cy="8711502"/>
          </a:xfrm>
          <a:custGeom>
            <a:avLst/>
            <a:gdLst/>
            <a:ahLst/>
            <a:cxnLst/>
            <a:rect r="r" b="b" t="t" l="l"/>
            <a:pathLst>
              <a:path h="8711502" w="8711502">
                <a:moveTo>
                  <a:pt x="0" y="0"/>
                </a:moveTo>
                <a:lnTo>
                  <a:pt x="8711502" y="0"/>
                </a:lnTo>
                <a:lnTo>
                  <a:pt x="8711502" y="8711502"/>
                </a:lnTo>
                <a:lnTo>
                  <a:pt x="0" y="87115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624698" y="1973440"/>
            <a:ext cx="7108700" cy="6340119"/>
            <a:chOff x="0" y="0"/>
            <a:chExt cx="1101324" cy="982250"/>
          </a:xfrm>
        </p:grpSpPr>
        <p:sp>
          <p:nvSpPr>
            <p:cNvPr name="Freeform 5" id="5"/>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5"/>
              <a:stretch>
                <a:fillRect l="-16830" t="0" r="-16830" b="0"/>
              </a:stretch>
            </a:blipFill>
            <a:ln w="38100" cap="sq">
              <a:solidFill>
                <a:srgbClr val="FFFFFF"/>
              </a:solidFill>
              <a:prstDash val="solid"/>
              <a:miter/>
            </a:ln>
          </p:spPr>
        </p:sp>
      </p:grpSp>
      <p:sp>
        <p:nvSpPr>
          <p:cNvPr name="Freeform 6" id="6"/>
          <p:cNvSpPr/>
          <p:nvPr/>
        </p:nvSpPr>
        <p:spPr>
          <a:xfrm flipH="true" flipV="true" rot="-5400000">
            <a:off x="800842" y="1490364"/>
            <a:ext cx="4080137" cy="3894676"/>
          </a:xfrm>
          <a:custGeom>
            <a:avLst/>
            <a:gdLst/>
            <a:ahLst/>
            <a:cxnLst/>
            <a:rect r="r" b="b" t="t" l="l"/>
            <a:pathLst>
              <a:path h="3894676" w="4080137">
                <a:moveTo>
                  <a:pt x="4080137" y="3894676"/>
                </a:moveTo>
                <a:lnTo>
                  <a:pt x="0" y="3894676"/>
                </a:lnTo>
                <a:lnTo>
                  <a:pt x="0" y="0"/>
                </a:lnTo>
                <a:lnTo>
                  <a:pt x="4080137" y="0"/>
                </a:lnTo>
                <a:lnTo>
                  <a:pt x="4080137" y="3894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302929" y="-949160"/>
            <a:ext cx="13774294" cy="2460945"/>
          </a:xfrm>
          <a:custGeom>
            <a:avLst/>
            <a:gdLst/>
            <a:ahLst/>
            <a:cxnLst/>
            <a:rect r="r" b="b" t="t" l="l"/>
            <a:pathLst>
              <a:path h="2460945" w="13774294">
                <a:moveTo>
                  <a:pt x="0" y="0"/>
                </a:moveTo>
                <a:lnTo>
                  <a:pt x="13774294" y="0"/>
                </a:lnTo>
                <a:lnTo>
                  <a:pt x="13774294" y="2460945"/>
                </a:lnTo>
                <a:lnTo>
                  <a:pt x="0" y="24609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028700" y="5849246"/>
            <a:ext cx="7519098" cy="1158119"/>
          </a:xfrm>
          <a:prstGeom prst="rect">
            <a:avLst/>
          </a:prstGeom>
        </p:spPr>
        <p:txBody>
          <a:bodyPr anchor="t" rtlCol="false" tIns="0" lIns="0" bIns="0" rIns="0">
            <a:spAutoFit/>
          </a:bodyPr>
          <a:lstStyle/>
          <a:p>
            <a:pPr algn="l">
              <a:lnSpc>
                <a:spcPts val="7942"/>
              </a:lnSpc>
            </a:pPr>
            <a:r>
              <a:rPr lang="en-US" sz="10053">
                <a:solidFill>
                  <a:srgbClr val="FFFFFF"/>
                </a:solidFill>
                <a:latin typeface="Adriana"/>
                <a:ea typeface="Adriana"/>
                <a:cs typeface="Adriana"/>
                <a:sym typeface="Adriana"/>
              </a:rPr>
              <a:t>BIG DATA</a:t>
            </a:r>
          </a:p>
        </p:txBody>
      </p:sp>
      <p:sp>
        <p:nvSpPr>
          <p:cNvPr name="TextBox 9" id="9"/>
          <p:cNvSpPr txBox="true"/>
          <p:nvPr/>
        </p:nvSpPr>
        <p:spPr>
          <a:xfrm rot="0">
            <a:off x="1028700" y="6950215"/>
            <a:ext cx="6737179" cy="1643810"/>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Big Data helps organizations analyze massive amounts of information to identify trends, improve decisions, optimize operations, and create better customer experiences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1880105" y="4378924"/>
            <a:ext cx="4645294" cy="1545616"/>
          </a:xfrm>
          <a:custGeom>
            <a:avLst/>
            <a:gdLst/>
            <a:ahLst/>
            <a:cxnLst/>
            <a:rect r="r" b="b" t="t" l="l"/>
            <a:pathLst>
              <a:path h="1545616" w="4645294">
                <a:moveTo>
                  <a:pt x="0" y="0"/>
                </a:moveTo>
                <a:lnTo>
                  <a:pt x="4645294" y="0"/>
                </a:lnTo>
                <a:lnTo>
                  <a:pt x="4645294" y="1545616"/>
                </a:lnTo>
                <a:lnTo>
                  <a:pt x="0" y="1545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821353" y="4378924"/>
            <a:ext cx="4645294" cy="1545616"/>
          </a:xfrm>
          <a:custGeom>
            <a:avLst/>
            <a:gdLst/>
            <a:ahLst/>
            <a:cxnLst/>
            <a:rect r="r" b="b" t="t" l="l"/>
            <a:pathLst>
              <a:path h="1545616" w="4645294">
                <a:moveTo>
                  <a:pt x="0" y="0"/>
                </a:moveTo>
                <a:lnTo>
                  <a:pt x="4645294" y="0"/>
                </a:lnTo>
                <a:lnTo>
                  <a:pt x="4645294" y="1545616"/>
                </a:lnTo>
                <a:lnTo>
                  <a:pt x="0" y="1545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762601" y="4378924"/>
            <a:ext cx="4645294" cy="1545616"/>
          </a:xfrm>
          <a:custGeom>
            <a:avLst/>
            <a:gdLst/>
            <a:ahLst/>
            <a:cxnLst/>
            <a:rect r="r" b="b" t="t" l="l"/>
            <a:pathLst>
              <a:path h="1545616" w="4645294">
                <a:moveTo>
                  <a:pt x="0" y="0"/>
                </a:moveTo>
                <a:lnTo>
                  <a:pt x="4645294" y="0"/>
                </a:lnTo>
                <a:lnTo>
                  <a:pt x="4645294" y="1545616"/>
                </a:lnTo>
                <a:lnTo>
                  <a:pt x="0" y="1545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880105" y="6245850"/>
            <a:ext cx="4645294" cy="1545616"/>
          </a:xfrm>
          <a:custGeom>
            <a:avLst/>
            <a:gdLst/>
            <a:ahLst/>
            <a:cxnLst/>
            <a:rect r="r" b="b" t="t" l="l"/>
            <a:pathLst>
              <a:path h="1545616" w="4645294">
                <a:moveTo>
                  <a:pt x="0" y="0"/>
                </a:moveTo>
                <a:lnTo>
                  <a:pt x="4645294" y="0"/>
                </a:lnTo>
                <a:lnTo>
                  <a:pt x="4645294" y="1545616"/>
                </a:lnTo>
                <a:lnTo>
                  <a:pt x="0" y="1545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821353" y="6245850"/>
            <a:ext cx="4645294" cy="1545616"/>
          </a:xfrm>
          <a:custGeom>
            <a:avLst/>
            <a:gdLst/>
            <a:ahLst/>
            <a:cxnLst/>
            <a:rect r="r" b="b" t="t" l="l"/>
            <a:pathLst>
              <a:path h="1545616" w="4645294">
                <a:moveTo>
                  <a:pt x="0" y="0"/>
                </a:moveTo>
                <a:lnTo>
                  <a:pt x="4645294" y="0"/>
                </a:lnTo>
                <a:lnTo>
                  <a:pt x="4645294" y="1545616"/>
                </a:lnTo>
                <a:lnTo>
                  <a:pt x="0" y="1545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1762601" y="6245850"/>
            <a:ext cx="4645294" cy="1545616"/>
          </a:xfrm>
          <a:custGeom>
            <a:avLst/>
            <a:gdLst/>
            <a:ahLst/>
            <a:cxnLst/>
            <a:rect r="r" b="b" t="t" l="l"/>
            <a:pathLst>
              <a:path h="1545616" w="4645294">
                <a:moveTo>
                  <a:pt x="0" y="0"/>
                </a:moveTo>
                <a:lnTo>
                  <a:pt x="4645294" y="0"/>
                </a:lnTo>
                <a:lnTo>
                  <a:pt x="4645294" y="1545616"/>
                </a:lnTo>
                <a:lnTo>
                  <a:pt x="0" y="15456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343116" y="4955821"/>
            <a:ext cx="660521" cy="673241"/>
          </a:xfrm>
          <a:custGeom>
            <a:avLst/>
            <a:gdLst/>
            <a:ahLst/>
            <a:cxnLst/>
            <a:rect r="r" b="b" t="t" l="l"/>
            <a:pathLst>
              <a:path h="673241" w="660521">
                <a:moveTo>
                  <a:pt x="0" y="0"/>
                </a:moveTo>
                <a:lnTo>
                  <a:pt x="660521" y="0"/>
                </a:lnTo>
                <a:lnTo>
                  <a:pt x="660521" y="673241"/>
                </a:lnTo>
                <a:lnTo>
                  <a:pt x="0" y="6732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3852919" y="1665582"/>
            <a:ext cx="10582162" cy="2346248"/>
          </a:xfrm>
          <a:prstGeom prst="rect">
            <a:avLst/>
          </a:prstGeom>
        </p:spPr>
        <p:txBody>
          <a:bodyPr anchor="t" rtlCol="false" tIns="0" lIns="0" bIns="0" rIns="0">
            <a:spAutoFit/>
          </a:bodyPr>
          <a:lstStyle/>
          <a:p>
            <a:pPr algn="ctr">
              <a:lnSpc>
                <a:spcPts val="8571"/>
              </a:lnSpc>
            </a:pPr>
            <a:r>
              <a:rPr lang="en-US" sz="10850">
                <a:solidFill>
                  <a:srgbClr val="FFFFFF"/>
                </a:solidFill>
                <a:latin typeface="Adriana"/>
                <a:ea typeface="Adriana"/>
                <a:cs typeface="Adriana"/>
                <a:sym typeface="Adriana"/>
              </a:rPr>
              <a:t>TECHNOLOGY ROADMAP</a:t>
            </a:r>
          </a:p>
        </p:txBody>
      </p:sp>
      <p:sp>
        <p:nvSpPr>
          <p:cNvPr name="Freeform 11" id="11"/>
          <p:cNvSpPr/>
          <p:nvPr/>
        </p:nvSpPr>
        <p:spPr>
          <a:xfrm flipH="false" flipV="false" rot="0">
            <a:off x="-3020841" y="8115316"/>
            <a:ext cx="5749219" cy="5487891"/>
          </a:xfrm>
          <a:custGeom>
            <a:avLst/>
            <a:gdLst/>
            <a:ahLst/>
            <a:cxnLst/>
            <a:rect r="r" b="b" t="t" l="l"/>
            <a:pathLst>
              <a:path h="5487891" w="5749219">
                <a:moveTo>
                  <a:pt x="0" y="0"/>
                </a:moveTo>
                <a:lnTo>
                  <a:pt x="5749218" y="0"/>
                </a:lnTo>
                <a:lnTo>
                  <a:pt x="5749218" y="5487891"/>
                </a:lnTo>
                <a:lnTo>
                  <a:pt x="0" y="54878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2728377" y="8096266"/>
            <a:ext cx="12831246" cy="915677"/>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Technology evolves through continuous innovation, testing, and refinement to meet changing needs and deliver long-term value</a:t>
            </a:r>
          </a:p>
        </p:txBody>
      </p:sp>
      <p:sp>
        <p:nvSpPr>
          <p:cNvPr name="TextBox 13" id="13"/>
          <p:cNvSpPr txBox="true"/>
          <p:nvPr/>
        </p:nvSpPr>
        <p:spPr>
          <a:xfrm rot="0">
            <a:off x="2128985" y="4889146"/>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IDEA</a:t>
            </a:r>
          </a:p>
        </p:txBody>
      </p:sp>
      <p:sp>
        <p:nvSpPr>
          <p:cNvPr name="TextBox 14" id="14"/>
          <p:cNvSpPr txBox="true"/>
          <p:nvPr/>
        </p:nvSpPr>
        <p:spPr>
          <a:xfrm rot="0">
            <a:off x="7070233" y="4889146"/>
            <a:ext cx="4147534" cy="458499"/>
          </a:xfrm>
          <a:prstGeom prst="rect">
            <a:avLst/>
          </a:prstGeom>
        </p:spPr>
        <p:txBody>
          <a:bodyPr anchor="t" rtlCol="false" tIns="0" lIns="0" bIns="0" rIns="0">
            <a:spAutoFit/>
          </a:bodyPr>
          <a:lstStyle/>
          <a:p>
            <a:pPr algn="ctr">
              <a:lnSpc>
                <a:spcPts val="3602"/>
              </a:lnSpc>
            </a:pPr>
          </a:p>
        </p:txBody>
      </p:sp>
      <p:sp>
        <p:nvSpPr>
          <p:cNvPr name="TextBox 15" id="15"/>
          <p:cNvSpPr txBox="true"/>
          <p:nvPr/>
        </p:nvSpPr>
        <p:spPr>
          <a:xfrm rot="0">
            <a:off x="12011480" y="4889146"/>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DEVELOPMENT</a:t>
            </a:r>
          </a:p>
        </p:txBody>
      </p:sp>
      <p:sp>
        <p:nvSpPr>
          <p:cNvPr name="TextBox 16" id="16"/>
          <p:cNvSpPr txBox="true"/>
          <p:nvPr/>
        </p:nvSpPr>
        <p:spPr>
          <a:xfrm rot="0">
            <a:off x="2130894" y="6695427"/>
            <a:ext cx="4147534" cy="715678"/>
          </a:xfrm>
          <a:prstGeom prst="rect">
            <a:avLst/>
          </a:prstGeom>
        </p:spPr>
        <p:txBody>
          <a:bodyPr anchor="t" rtlCol="false" tIns="0" lIns="0" bIns="0" rIns="0">
            <a:spAutoFit/>
          </a:bodyPr>
          <a:lstStyle/>
          <a:p>
            <a:pPr algn="ctr">
              <a:lnSpc>
                <a:spcPts val="2701"/>
              </a:lnSpc>
            </a:pPr>
            <a:r>
              <a:rPr lang="en-US" sz="2573">
                <a:solidFill>
                  <a:srgbClr val="FFFFFF"/>
                </a:solidFill>
                <a:latin typeface="Poppins"/>
                <a:ea typeface="Poppins"/>
                <a:cs typeface="Poppins"/>
                <a:sym typeface="Poppins"/>
              </a:rPr>
              <a:t>CONTINUOUS IMPROVEMENT</a:t>
            </a:r>
          </a:p>
        </p:txBody>
      </p:sp>
      <p:sp>
        <p:nvSpPr>
          <p:cNvPr name="TextBox 17" id="17"/>
          <p:cNvSpPr txBox="true"/>
          <p:nvPr/>
        </p:nvSpPr>
        <p:spPr>
          <a:xfrm rot="0">
            <a:off x="7070233" y="6756071"/>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IMPLEMENTATION</a:t>
            </a:r>
          </a:p>
        </p:txBody>
      </p:sp>
      <p:sp>
        <p:nvSpPr>
          <p:cNvPr name="TextBox 18" id="18"/>
          <p:cNvSpPr txBox="true"/>
          <p:nvPr/>
        </p:nvSpPr>
        <p:spPr>
          <a:xfrm rot="0">
            <a:off x="12011480" y="6756071"/>
            <a:ext cx="4147534" cy="458499"/>
          </a:xfrm>
          <a:prstGeom prst="rect">
            <a:avLst/>
          </a:prstGeom>
        </p:spPr>
        <p:txBody>
          <a:bodyPr anchor="t" rtlCol="false" tIns="0" lIns="0" bIns="0" rIns="0">
            <a:spAutoFit/>
          </a:bodyPr>
          <a:lstStyle/>
          <a:p>
            <a:pPr algn="ctr">
              <a:lnSpc>
                <a:spcPts val="3602"/>
              </a:lnSpc>
            </a:pPr>
            <a:r>
              <a:rPr lang="en-US" sz="2573">
                <a:solidFill>
                  <a:srgbClr val="FFFFFF"/>
                </a:solidFill>
                <a:latin typeface="Poppins"/>
                <a:ea typeface="Poppins"/>
                <a:cs typeface="Poppins"/>
                <a:sym typeface="Poppins"/>
              </a:rPr>
              <a:t>TESTING</a:t>
            </a:r>
          </a:p>
        </p:txBody>
      </p:sp>
      <p:sp>
        <p:nvSpPr>
          <p:cNvPr name="TextBox 19" id="19"/>
          <p:cNvSpPr txBox="true"/>
          <p:nvPr/>
        </p:nvSpPr>
        <p:spPr>
          <a:xfrm rot="0">
            <a:off x="7070233" y="4889146"/>
            <a:ext cx="4147534" cy="458499"/>
          </a:xfrm>
          <a:prstGeom prst="rect">
            <a:avLst/>
          </a:prstGeom>
        </p:spPr>
        <p:txBody>
          <a:bodyPr anchor="t" rtlCol="false" tIns="0" lIns="0" bIns="0" rIns="0">
            <a:spAutoFit/>
          </a:bodyPr>
          <a:lstStyle/>
          <a:p>
            <a:pPr algn="ctr">
              <a:lnSpc>
                <a:spcPts val="3602"/>
              </a:lnSpc>
              <a:spcBef>
                <a:spcPct val="0"/>
              </a:spcBef>
            </a:pPr>
            <a:r>
              <a:rPr lang="en-US" sz="2573">
                <a:solidFill>
                  <a:srgbClr val="FFFFFF"/>
                </a:solidFill>
                <a:latin typeface="Poppins"/>
                <a:ea typeface="Poppins"/>
                <a:cs typeface="Poppins"/>
                <a:sym typeface="Poppins"/>
              </a:rPr>
              <a:t>RESEARCH</a:t>
            </a:r>
          </a:p>
        </p:txBody>
      </p:sp>
      <p:sp>
        <p:nvSpPr>
          <p:cNvPr name="Freeform 20" id="20"/>
          <p:cNvSpPr/>
          <p:nvPr/>
        </p:nvSpPr>
        <p:spPr>
          <a:xfrm flipH="false" flipV="false" rot="0">
            <a:off x="11284442" y="4815112"/>
            <a:ext cx="660521" cy="673241"/>
          </a:xfrm>
          <a:custGeom>
            <a:avLst/>
            <a:gdLst/>
            <a:ahLst/>
            <a:cxnLst/>
            <a:rect r="r" b="b" t="t" l="l"/>
            <a:pathLst>
              <a:path h="673241" w="660521">
                <a:moveTo>
                  <a:pt x="0" y="0"/>
                </a:moveTo>
                <a:lnTo>
                  <a:pt x="660522" y="0"/>
                </a:lnTo>
                <a:lnTo>
                  <a:pt x="660522" y="673241"/>
                </a:lnTo>
                <a:lnTo>
                  <a:pt x="0" y="6732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5400000">
            <a:off x="13768200" y="5918181"/>
            <a:ext cx="660521" cy="673241"/>
          </a:xfrm>
          <a:custGeom>
            <a:avLst/>
            <a:gdLst/>
            <a:ahLst/>
            <a:cxnLst/>
            <a:rect r="r" b="b" t="t" l="l"/>
            <a:pathLst>
              <a:path h="673241" w="660521">
                <a:moveTo>
                  <a:pt x="0" y="0"/>
                </a:moveTo>
                <a:lnTo>
                  <a:pt x="660521" y="0"/>
                </a:lnTo>
                <a:lnTo>
                  <a:pt x="660521" y="673241"/>
                </a:lnTo>
                <a:lnTo>
                  <a:pt x="0" y="6732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10800000">
            <a:off x="11284363" y="6676377"/>
            <a:ext cx="660521" cy="673241"/>
          </a:xfrm>
          <a:custGeom>
            <a:avLst/>
            <a:gdLst/>
            <a:ahLst/>
            <a:cxnLst/>
            <a:rect r="r" b="b" t="t" l="l"/>
            <a:pathLst>
              <a:path h="673241" w="660521">
                <a:moveTo>
                  <a:pt x="0" y="0"/>
                </a:moveTo>
                <a:lnTo>
                  <a:pt x="660521" y="0"/>
                </a:lnTo>
                <a:lnTo>
                  <a:pt x="660521" y="673241"/>
                </a:lnTo>
                <a:lnTo>
                  <a:pt x="0" y="6732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10800000">
            <a:off x="6343036" y="6676377"/>
            <a:ext cx="660521" cy="673241"/>
          </a:xfrm>
          <a:custGeom>
            <a:avLst/>
            <a:gdLst/>
            <a:ahLst/>
            <a:cxnLst/>
            <a:rect r="r" b="b" t="t" l="l"/>
            <a:pathLst>
              <a:path h="673241" w="660521">
                <a:moveTo>
                  <a:pt x="0" y="0"/>
                </a:moveTo>
                <a:lnTo>
                  <a:pt x="660522" y="0"/>
                </a:lnTo>
                <a:lnTo>
                  <a:pt x="660522" y="673241"/>
                </a:lnTo>
                <a:lnTo>
                  <a:pt x="0" y="6732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true" flipV="true" rot="0">
            <a:off x="14562512" y="-1541872"/>
            <a:ext cx="5749219" cy="5487891"/>
          </a:xfrm>
          <a:custGeom>
            <a:avLst/>
            <a:gdLst/>
            <a:ahLst/>
            <a:cxnLst/>
            <a:rect r="r" b="b" t="t" l="l"/>
            <a:pathLst>
              <a:path h="5487891" w="5749219">
                <a:moveTo>
                  <a:pt x="5749218" y="5487890"/>
                </a:moveTo>
                <a:lnTo>
                  <a:pt x="0" y="5487890"/>
                </a:lnTo>
                <a:lnTo>
                  <a:pt x="0" y="0"/>
                </a:lnTo>
                <a:lnTo>
                  <a:pt x="5749218" y="0"/>
                </a:lnTo>
                <a:lnTo>
                  <a:pt x="5749218" y="548789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10800000">
            <a:off x="-2686677" y="-2704006"/>
            <a:ext cx="11777918" cy="3918834"/>
          </a:xfrm>
          <a:custGeom>
            <a:avLst/>
            <a:gdLst/>
            <a:ahLst/>
            <a:cxnLst/>
            <a:rect r="r" b="b" t="t" l="l"/>
            <a:pathLst>
              <a:path h="3918834" w="11777918">
                <a:moveTo>
                  <a:pt x="0" y="0"/>
                </a:moveTo>
                <a:lnTo>
                  <a:pt x="11777918" y="0"/>
                </a:lnTo>
                <a:lnTo>
                  <a:pt x="11777918" y="3918834"/>
                </a:lnTo>
                <a:lnTo>
                  <a:pt x="0" y="39188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true" flipV="true" rot="-5400000">
            <a:off x="14300594" y="8339662"/>
            <a:ext cx="4080137" cy="3894676"/>
          </a:xfrm>
          <a:custGeom>
            <a:avLst/>
            <a:gdLst/>
            <a:ahLst/>
            <a:cxnLst/>
            <a:rect r="r" b="b" t="t" l="l"/>
            <a:pathLst>
              <a:path h="3894676" w="4080137">
                <a:moveTo>
                  <a:pt x="4080136" y="3894676"/>
                </a:moveTo>
                <a:lnTo>
                  <a:pt x="0" y="3894676"/>
                </a:lnTo>
                <a:lnTo>
                  <a:pt x="0" y="0"/>
                </a:lnTo>
                <a:lnTo>
                  <a:pt x="4080136" y="0"/>
                </a:lnTo>
                <a:lnTo>
                  <a:pt x="4080136" y="389467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3893284"/>
            <a:ext cx="9368089" cy="4523374"/>
          </a:xfrm>
          <a:prstGeom prst="rect">
            <a:avLst/>
          </a:prstGeom>
        </p:spPr>
        <p:txBody>
          <a:bodyPr anchor="t" rtlCol="false" tIns="0" lIns="0" bIns="0" rIns="0">
            <a:spAutoFit/>
          </a:bodyPr>
          <a:lstStyle/>
          <a:p>
            <a:pPr algn="just">
              <a:lnSpc>
                <a:spcPts val="3241"/>
              </a:lnSpc>
            </a:pPr>
            <a:r>
              <a:rPr lang="en-US" sz="2315">
                <a:solidFill>
                  <a:srgbClr val="FFFFFF"/>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p>
        </p:txBody>
      </p:sp>
      <p:sp>
        <p:nvSpPr>
          <p:cNvPr name="Freeform 5" id="5"/>
          <p:cNvSpPr/>
          <p:nvPr/>
        </p:nvSpPr>
        <p:spPr>
          <a:xfrm flipH="false" flipV="false" rot="0">
            <a:off x="11010204" y="-513763"/>
            <a:ext cx="8674931" cy="8674931"/>
          </a:xfrm>
          <a:custGeom>
            <a:avLst/>
            <a:gdLst/>
            <a:ahLst/>
            <a:cxnLst/>
            <a:rect r="r" b="b" t="t" l="l"/>
            <a:pathLst>
              <a:path h="8674931" w="8674931">
                <a:moveTo>
                  <a:pt x="0" y="0"/>
                </a:moveTo>
                <a:lnTo>
                  <a:pt x="8674930" y="0"/>
                </a:lnTo>
                <a:lnTo>
                  <a:pt x="8674930" y="8674931"/>
                </a:lnTo>
                <a:lnTo>
                  <a:pt x="0" y="86749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2082583" y="666951"/>
            <a:ext cx="7078857" cy="6313503"/>
            <a:chOff x="0" y="0"/>
            <a:chExt cx="1101324" cy="982250"/>
          </a:xfrm>
        </p:grpSpPr>
        <p:sp>
          <p:nvSpPr>
            <p:cNvPr name="Freeform 7" id="7"/>
            <p:cNvSpPr/>
            <p:nvPr/>
          </p:nvSpPr>
          <p:spPr>
            <a:xfrm flipH="false" flipV="false" rot="0">
              <a:off x="0" y="0"/>
              <a:ext cx="1101324" cy="982250"/>
            </a:xfrm>
            <a:custGeom>
              <a:avLst/>
              <a:gdLst/>
              <a:ahLst/>
              <a:cxnLst/>
              <a:rect r="r" b="b" t="t" l="l"/>
              <a:pathLst>
                <a:path h="982250" w="1101324">
                  <a:moveTo>
                    <a:pt x="0" y="0"/>
                  </a:moveTo>
                  <a:lnTo>
                    <a:pt x="1101324" y="0"/>
                  </a:lnTo>
                  <a:lnTo>
                    <a:pt x="1101324" y="982250"/>
                  </a:lnTo>
                  <a:lnTo>
                    <a:pt x="0" y="982250"/>
                  </a:lnTo>
                  <a:close/>
                </a:path>
              </a:pathLst>
            </a:custGeom>
            <a:blipFill>
              <a:blip r:embed="rId7"/>
              <a:stretch>
                <a:fillRect l="-16830" t="0" r="-16830" b="0"/>
              </a:stretch>
            </a:blipFill>
            <a:ln w="38100" cap="sq">
              <a:solidFill>
                <a:srgbClr val="FFFFFF"/>
              </a:solidFill>
              <a:prstDash val="solid"/>
              <a:miter/>
            </a:ln>
          </p:spPr>
        </p:sp>
      </p:grpSp>
      <p:sp>
        <p:nvSpPr>
          <p:cNvPr name="TextBox 8" id="8"/>
          <p:cNvSpPr txBox="true"/>
          <p:nvPr/>
        </p:nvSpPr>
        <p:spPr>
          <a:xfrm rot="0">
            <a:off x="1028700" y="2127516"/>
            <a:ext cx="9981504" cy="1539694"/>
          </a:xfrm>
          <a:prstGeom prst="rect">
            <a:avLst/>
          </a:prstGeom>
        </p:spPr>
        <p:txBody>
          <a:bodyPr anchor="t" rtlCol="false" tIns="0" lIns="0" bIns="0" rIns="0">
            <a:spAutoFit/>
          </a:bodyPr>
          <a:lstStyle/>
          <a:p>
            <a:pPr algn="l">
              <a:lnSpc>
                <a:spcPts val="5627"/>
              </a:lnSpc>
            </a:pPr>
            <a:r>
              <a:rPr lang="en-US" sz="7124">
                <a:solidFill>
                  <a:srgbClr val="FFFFFF"/>
                </a:solidFill>
                <a:latin typeface="Adriana"/>
                <a:ea typeface="Adriana"/>
                <a:cs typeface="Adriana"/>
                <a:sym typeface="Adriana"/>
              </a:rPr>
              <a:t>TECHNOLOGY AND SUSTAINABILITY</a:t>
            </a:r>
          </a:p>
        </p:txBody>
      </p:sp>
      <p:sp>
        <p:nvSpPr>
          <p:cNvPr name="Freeform 9" id="9"/>
          <p:cNvSpPr/>
          <p:nvPr/>
        </p:nvSpPr>
        <p:spPr>
          <a:xfrm flipH="false" flipV="true" rot="0">
            <a:off x="-3428416" y="-1197441"/>
            <a:ext cx="13774294" cy="2460945"/>
          </a:xfrm>
          <a:custGeom>
            <a:avLst/>
            <a:gdLst/>
            <a:ahLst/>
            <a:cxnLst/>
            <a:rect r="r" b="b" t="t" l="l"/>
            <a:pathLst>
              <a:path h="2460945" w="13774294">
                <a:moveTo>
                  <a:pt x="0" y="2460945"/>
                </a:moveTo>
                <a:lnTo>
                  <a:pt x="13774294" y="2460945"/>
                </a:lnTo>
                <a:lnTo>
                  <a:pt x="13774294" y="0"/>
                </a:lnTo>
                <a:lnTo>
                  <a:pt x="0" y="0"/>
                </a:lnTo>
                <a:lnTo>
                  <a:pt x="0" y="246094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true" rot="0">
            <a:off x="-1396103" y="9544050"/>
            <a:ext cx="13774294" cy="2460945"/>
          </a:xfrm>
          <a:custGeom>
            <a:avLst/>
            <a:gdLst/>
            <a:ahLst/>
            <a:cxnLst/>
            <a:rect r="r" b="b" t="t" l="l"/>
            <a:pathLst>
              <a:path h="2460945" w="13774294">
                <a:moveTo>
                  <a:pt x="0" y="2460945"/>
                </a:moveTo>
                <a:lnTo>
                  <a:pt x="13774293" y="2460945"/>
                </a:lnTo>
                <a:lnTo>
                  <a:pt x="13774293" y="0"/>
                </a:lnTo>
                <a:lnTo>
                  <a:pt x="0" y="0"/>
                </a:lnTo>
                <a:lnTo>
                  <a:pt x="0" y="2460945"/>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TextBox 3" id="3"/>
          <p:cNvSpPr txBox="true"/>
          <p:nvPr/>
        </p:nvSpPr>
        <p:spPr>
          <a:xfrm rot="0">
            <a:off x="1544397" y="1523018"/>
            <a:ext cx="15199206" cy="3364280"/>
          </a:xfrm>
          <a:prstGeom prst="rect">
            <a:avLst/>
          </a:prstGeom>
        </p:spPr>
        <p:txBody>
          <a:bodyPr anchor="t" rtlCol="false" tIns="0" lIns="0" bIns="0" rIns="0">
            <a:spAutoFit/>
          </a:bodyPr>
          <a:lstStyle/>
          <a:p>
            <a:pPr algn="ctr">
              <a:lnSpc>
                <a:spcPts val="12311"/>
              </a:lnSpc>
            </a:pPr>
            <a:r>
              <a:rPr lang="en-US" sz="15584">
                <a:solidFill>
                  <a:srgbClr val="FFFFFF"/>
                </a:solidFill>
                <a:latin typeface="Adriana"/>
                <a:ea typeface="Adriana"/>
                <a:cs typeface="Adriana"/>
                <a:sym typeface="Adriana"/>
              </a:rPr>
              <a:t>KEY TAKEAWAYS</a:t>
            </a:r>
          </a:p>
        </p:txBody>
      </p:sp>
      <p:grpSp>
        <p:nvGrpSpPr>
          <p:cNvPr name="Group 4" id="4"/>
          <p:cNvGrpSpPr/>
          <p:nvPr/>
        </p:nvGrpSpPr>
        <p:grpSpPr>
          <a:xfrm rot="0">
            <a:off x="1028700" y="4887298"/>
            <a:ext cx="9022793" cy="898602"/>
            <a:chOff x="0" y="0"/>
            <a:chExt cx="2376373" cy="236669"/>
          </a:xfrm>
        </p:grpSpPr>
        <p:sp>
          <p:nvSpPr>
            <p:cNvPr name="Freeform 5" id="5"/>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6" id="6"/>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28700" y="6044765"/>
            <a:ext cx="9022793" cy="898602"/>
            <a:chOff x="0" y="0"/>
            <a:chExt cx="2376373" cy="236669"/>
          </a:xfrm>
        </p:grpSpPr>
        <p:sp>
          <p:nvSpPr>
            <p:cNvPr name="Freeform 8" id="8"/>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9" id="9"/>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028700" y="7202231"/>
            <a:ext cx="9022793" cy="898602"/>
            <a:chOff x="0" y="0"/>
            <a:chExt cx="2376373" cy="236669"/>
          </a:xfrm>
        </p:grpSpPr>
        <p:sp>
          <p:nvSpPr>
            <p:cNvPr name="Freeform 11" id="11"/>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12" id="12"/>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28700" y="8359698"/>
            <a:ext cx="9022793" cy="898602"/>
            <a:chOff x="0" y="0"/>
            <a:chExt cx="2376373" cy="236669"/>
          </a:xfrm>
        </p:grpSpPr>
        <p:sp>
          <p:nvSpPr>
            <p:cNvPr name="Freeform 14" id="14"/>
            <p:cNvSpPr/>
            <p:nvPr/>
          </p:nvSpPr>
          <p:spPr>
            <a:xfrm flipH="false" flipV="false" rot="0">
              <a:off x="0" y="0"/>
              <a:ext cx="2376374" cy="236669"/>
            </a:xfrm>
            <a:custGeom>
              <a:avLst/>
              <a:gdLst/>
              <a:ahLst/>
              <a:cxnLst/>
              <a:rect r="r" b="b" t="t" l="l"/>
              <a:pathLst>
                <a:path h="236669" w="2376374">
                  <a:moveTo>
                    <a:pt x="43760" y="0"/>
                  </a:moveTo>
                  <a:lnTo>
                    <a:pt x="2332613" y="0"/>
                  </a:lnTo>
                  <a:cubicBezTo>
                    <a:pt x="2356782" y="0"/>
                    <a:pt x="2376374" y="19592"/>
                    <a:pt x="2376374" y="43760"/>
                  </a:cubicBezTo>
                  <a:lnTo>
                    <a:pt x="2376374" y="192909"/>
                  </a:lnTo>
                  <a:cubicBezTo>
                    <a:pt x="2376374" y="204515"/>
                    <a:pt x="2371763" y="215645"/>
                    <a:pt x="2363557" y="223852"/>
                  </a:cubicBezTo>
                  <a:cubicBezTo>
                    <a:pt x="2355350" y="232058"/>
                    <a:pt x="2344219" y="236669"/>
                    <a:pt x="2332613" y="236669"/>
                  </a:cubicBezTo>
                  <a:lnTo>
                    <a:pt x="43760" y="236669"/>
                  </a:lnTo>
                  <a:cubicBezTo>
                    <a:pt x="32154" y="236669"/>
                    <a:pt x="21024" y="232058"/>
                    <a:pt x="12817" y="223852"/>
                  </a:cubicBezTo>
                  <a:cubicBezTo>
                    <a:pt x="4610" y="215645"/>
                    <a:pt x="0" y="204515"/>
                    <a:pt x="0" y="192909"/>
                  </a:cubicBezTo>
                  <a:lnTo>
                    <a:pt x="0" y="43760"/>
                  </a:lnTo>
                  <a:cubicBezTo>
                    <a:pt x="0" y="32154"/>
                    <a:pt x="4610" y="21024"/>
                    <a:pt x="12817" y="12817"/>
                  </a:cubicBezTo>
                  <a:cubicBezTo>
                    <a:pt x="21024" y="4610"/>
                    <a:pt x="32154" y="0"/>
                    <a:pt x="43760" y="0"/>
                  </a:cubicBezTo>
                  <a:close/>
                </a:path>
              </a:pathLst>
            </a:custGeom>
            <a:solidFill>
              <a:srgbClr val="FFFFFF"/>
            </a:solidFill>
            <a:ln cap="rnd">
              <a:noFill/>
              <a:prstDash val="solid"/>
              <a:round/>
            </a:ln>
          </p:spPr>
        </p:sp>
        <p:sp>
          <p:nvSpPr>
            <p:cNvPr name="TextBox 15" id="15"/>
            <p:cNvSpPr txBox="true"/>
            <p:nvPr/>
          </p:nvSpPr>
          <p:spPr>
            <a:xfrm>
              <a:off x="0" y="-38100"/>
              <a:ext cx="2376373" cy="27476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0399167" y="4915873"/>
            <a:ext cx="8468496" cy="4371002"/>
            <a:chOff x="0" y="0"/>
            <a:chExt cx="1311992" cy="677183"/>
          </a:xfrm>
        </p:grpSpPr>
        <p:sp>
          <p:nvSpPr>
            <p:cNvPr name="Freeform 17" id="17"/>
            <p:cNvSpPr/>
            <p:nvPr/>
          </p:nvSpPr>
          <p:spPr>
            <a:xfrm flipH="false" flipV="false" rot="0">
              <a:off x="0" y="0"/>
              <a:ext cx="1311992" cy="677183"/>
            </a:xfrm>
            <a:custGeom>
              <a:avLst/>
              <a:gdLst/>
              <a:ahLst/>
              <a:cxnLst/>
              <a:rect r="r" b="b" t="t" l="l"/>
              <a:pathLst>
                <a:path h="677183" w="1311992">
                  <a:moveTo>
                    <a:pt x="0" y="0"/>
                  </a:moveTo>
                  <a:lnTo>
                    <a:pt x="1311992" y="0"/>
                  </a:lnTo>
                  <a:lnTo>
                    <a:pt x="1311992" y="677183"/>
                  </a:lnTo>
                  <a:lnTo>
                    <a:pt x="0" y="677183"/>
                  </a:lnTo>
                  <a:close/>
                </a:path>
              </a:pathLst>
            </a:custGeom>
            <a:blipFill>
              <a:blip r:embed="rId3"/>
              <a:stretch>
                <a:fillRect l="0" t="-14639" r="0" b="-14639"/>
              </a:stretch>
            </a:blipFill>
            <a:ln w="38100" cap="sq">
              <a:solidFill>
                <a:srgbClr val="FFFFFF"/>
              </a:solidFill>
              <a:prstDash val="solid"/>
              <a:miter/>
            </a:ln>
          </p:spPr>
        </p:sp>
      </p:grpSp>
      <p:sp>
        <p:nvSpPr>
          <p:cNvPr name="Freeform 18" id="18"/>
          <p:cNvSpPr/>
          <p:nvPr/>
        </p:nvSpPr>
        <p:spPr>
          <a:xfrm flipH="false" flipV="false" rot="0">
            <a:off x="1544397" y="5063341"/>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2422946" y="5075551"/>
            <a:ext cx="555929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Technology evolves rapidly</a:t>
            </a:r>
          </a:p>
        </p:txBody>
      </p:sp>
      <p:sp>
        <p:nvSpPr>
          <p:cNvPr name="TextBox 20" id="20"/>
          <p:cNvSpPr txBox="true"/>
          <p:nvPr/>
        </p:nvSpPr>
        <p:spPr>
          <a:xfrm rot="0">
            <a:off x="2422946" y="6233018"/>
            <a:ext cx="555929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Innovation drives progress</a:t>
            </a:r>
          </a:p>
        </p:txBody>
      </p:sp>
      <p:sp>
        <p:nvSpPr>
          <p:cNvPr name="TextBox 21" id="21"/>
          <p:cNvSpPr txBox="true"/>
          <p:nvPr/>
        </p:nvSpPr>
        <p:spPr>
          <a:xfrm rot="0">
            <a:off x="2422946" y="7390484"/>
            <a:ext cx="5559292"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Cybersecurity is essential</a:t>
            </a:r>
          </a:p>
        </p:txBody>
      </p:sp>
      <p:sp>
        <p:nvSpPr>
          <p:cNvPr name="TextBox 22" id="22"/>
          <p:cNvSpPr txBox="true"/>
          <p:nvPr/>
        </p:nvSpPr>
        <p:spPr>
          <a:xfrm rot="0">
            <a:off x="2422946" y="8547951"/>
            <a:ext cx="7628547"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Continuous learning creates opportunities</a:t>
            </a:r>
          </a:p>
        </p:txBody>
      </p:sp>
      <p:sp>
        <p:nvSpPr>
          <p:cNvPr name="Freeform 23" id="23"/>
          <p:cNvSpPr/>
          <p:nvPr/>
        </p:nvSpPr>
        <p:spPr>
          <a:xfrm flipH="false" flipV="false" rot="0">
            <a:off x="1544397" y="6220808"/>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544397" y="7378274"/>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544397" y="8535741"/>
            <a:ext cx="546516" cy="546516"/>
          </a:xfrm>
          <a:custGeom>
            <a:avLst/>
            <a:gdLst/>
            <a:ahLst/>
            <a:cxnLst/>
            <a:rect r="r" b="b" t="t" l="l"/>
            <a:pathLst>
              <a:path h="546516" w="546516">
                <a:moveTo>
                  <a:pt x="0" y="0"/>
                </a:moveTo>
                <a:lnTo>
                  <a:pt x="546516" y="0"/>
                </a:lnTo>
                <a:lnTo>
                  <a:pt x="546516" y="546516"/>
                </a:lnTo>
                <a:lnTo>
                  <a:pt x="0" y="546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true" flipV="true" rot="0">
            <a:off x="11758806" y="-2743945"/>
            <a:ext cx="5749219" cy="5487891"/>
          </a:xfrm>
          <a:custGeom>
            <a:avLst/>
            <a:gdLst/>
            <a:ahLst/>
            <a:cxnLst/>
            <a:rect r="r" b="b" t="t" l="l"/>
            <a:pathLst>
              <a:path h="5487891" w="5749219">
                <a:moveTo>
                  <a:pt x="5749218" y="5487890"/>
                </a:moveTo>
                <a:lnTo>
                  <a:pt x="0" y="5487890"/>
                </a:lnTo>
                <a:lnTo>
                  <a:pt x="0" y="0"/>
                </a:lnTo>
                <a:lnTo>
                  <a:pt x="5749218" y="0"/>
                </a:lnTo>
                <a:lnTo>
                  <a:pt x="5749218" y="548789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true" rot="0">
            <a:off x="766789" y="-2743945"/>
            <a:ext cx="5749219" cy="5487891"/>
          </a:xfrm>
          <a:custGeom>
            <a:avLst/>
            <a:gdLst/>
            <a:ahLst/>
            <a:cxnLst/>
            <a:rect r="r" b="b" t="t" l="l"/>
            <a:pathLst>
              <a:path h="5487891" w="5749219">
                <a:moveTo>
                  <a:pt x="0" y="5487890"/>
                </a:moveTo>
                <a:lnTo>
                  <a:pt x="5749219" y="5487890"/>
                </a:lnTo>
                <a:lnTo>
                  <a:pt x="5749219" y="0"/>
                </a:lnTo>
                <a:lnTo>
                  <a:pt x="0" y="0"/>
                </a:lnTo>
                <a:lnTo>
                  <a:pt x="0" y="548789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10800000">
            <a:off x="7359162" y="9286875"/>
            <a:ext cx="11777918" cy="3918834"/>
          </a:xfrm>
          <a:custGeom>
            <a:avLst/>
            <a:gdLst/>
            <a:ahLst/>
            <a:cxnLst/>
            <a:rect r="r" b="b" t="t" l="l"/>
            <a:pathLst>
              <a:path h="3918834" w="11777918">
                <a:moveTo>
                  <a:pt x="0" y="0"/>
                </a:moveTo>
                <a:lnTo>
                  <a:pt x="11777918" y="0"/>
                </a:lnTo>
                <a:lnTo>
                  <a:pt x="11777918" y="3918834"/>
                </a:lnTo>
                <a:lnTo>
                  <a:pt x="0" y="39188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Freeform 3" id="3"/>
          <p:cNvSpPr/>
          <p:nvPr/>
        </p:nvSpPr>
        <p:spPr>
          <a:xfrm flipH="false" flipV="false" rot="0">
            <a:off x="7311596" y="9258300"/>
            <a:ext cx="11777918" cy="3918834"/>
          </a:xfrm>
          <a:custGeom>
            <a:avLst/>
            <a:gdLst/>
            <a:ahLst/>
            <a:cxnLst/>
            <a:rect r="r" b="b" t="t" l="l"/>
            <a:pathLst>
              <a:path h="3918834" w="11777918">
                <a:moveTo>
                  <a:pt x="0" y="0"/>
                </a:moveTo>
                <a:lnTo>
                  <a:pt x="11777917" y="0"/>
                </a:lnTo>
                <a:lnTo>
                  <a:pt x="11777917" y="3918834"/>
                </a:lnTo>
                <a:lnTo>
                  <a:pt x="0" y="39188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874609" y="7217166"/>
            <a:ext cx="5749219" cy="5487891"/>
          </a:xfrm>
          <a:custGeom>
            <a:avLst/>
            <a:gdLst/>
            <a:ahLst/>
            <a:cxnLst/>
            <a:rect r="r" b="b" t="t" l="l"/>
            <a:pathLst>
              <a:path h="5487891" w="5749219">
                <a:moveTo>
                  <a:pt x="0" y="0"/>
                </a:moveTo>
                <a:lnTo>
                  <a:pt x="5749218" y="0"/>
                </a:lnTo>
                <a:lnTo>
                  <a:pt x="5749218" y="5487891"/>
                </a:lnTo>
                <a:lnTo>
                  <a:pt x="0" y="54878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15191628" y="-2743945"/>
            <a:ext cx="5749219" cy="5487891"/>
          </a:xfrm>
          <a:custGeom>
            <a:avLst/>
            <a:gdLst/>
            <a:ahLst/>
            <a:cxnLst/>
            <a:rect r="r" b="b" t="t" l="l"/>
            <a:pathLst>
              <a:path h="5487891" w="5749219">
                <a:moveTo>
                  <a:pt x="5749218" y="5487890"/>
                </a:moveTo>
                <a:lnTo>
                  <a:pt x="0" y="5487890"/>
                </a:lnTo>
                <a:lnTo>
                  <a:pt x="0" y="0"/>
                </a:lnTo>
                <a:lnTo>
                  <a:pt x="5749218" y="0"/>
                </a:lnTo>
                <a:lnTo>
                  <a:pt x="5749218" y="548789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40052" y="-2354493"/>
            <a:ext cx="11777918" cy="3918834"/>
          </a:xfrm>
          <a:custGeom>
            <a:avLst/>
            <a:gdLst/>
            <a:ahLst/>
            <a:cxnLst/>
            <a:rect r="r" b="b" t="t" l="l"/>
            <a:pathLst>
              <a:path h="3918834" w="11777918">
                <a:moveTo>
                  <a:pt x="0" y="0"/>
                </a:moveTo>
                <a:lnTo>
                  <a:pt x="11777918" y="0"/>
                </a:lnTo>
                <a:lnTo>
                  <a:pt x="11777918" y="3918834"/>
                </a:lnTo>
                <a:lnTo>
                  <a:pt x="0" y="39188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204418" y="5464805"/>
            <a:ext cx="11879163" cy="573642"/>
          </a:xfrm>
          <a:custGeom>
            <a:avLst/>
            <a:gdLst/>
            <a:ahLst/>
            <a:cxnLst/>
            <a:rect r="r" b="b" t="t" l="l"/>
            <a:pathLst>
              <a:path h="573642" w="11879163">
                <a:moveTo>
                  <a:pt x="0" y="0"/>
                </a:moveTo>
                <a:lnTo>
                  <a:pt x="11879164" y="0"/>
                </a:lnTo>
                <a:lnTo>
                  <a:pt x="11879164" y="573642"/>
                </a:lnTo>
                <a:lnTo>
                  <a:pt x="0" y="5736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8" id="8"/>
          <p:cNvGrpSpPr/>
          <p:nvPr/>
        </p:nvGrpSpPr>
        <p:grpSpPr>
          <a:xfrm rot="0">
            <a:off x="3654585" y="6286774"/>
            <a:ext cx="10978830" cy="898602"/>
            <a:chOff x="0" y="0"/>
            <a:chExt cx="2891544" cy="236669"/>
          </a:xfrm>
        </p:grpSpPr>
        <p:sp>
          <p:nvSpPr>
            <p:cNvPr name="Freeform 9" id="9"/>
            <p:cNvSpPr/>
            <p:nvPr/>
          </p:nvSpPr>
          <p:spPr>
            <a:xfrm flipH="false" flipV="false" rot="0">
              <a:off x="0" y="0"/>
              <a:ext cx="2891544" cy="236669"/>
            </a:xfrm>
            <a:custGeom>
              <a:avLst/>
              <a:gdLst/>
              <a:ahLst/>
              <a:cxnLst/>
              <a:rect r="r" b="b" t="t" l="l"/>
              <a:pathLst>
                <a:path h="236669" w="2891544">
                  <a:moveTo>
                    <a:pt x="35964" y="0"/>
                  </a:moveTo>
                  <a:lnTo>
                    <a:pt x="2855580" y="0"/>
                  </a:lnTo>
                  <a:cubicBezTo>
                    <a:pt x="2865118" y="0"/>
                    <a:pt x="2874266" y="3789"/>
                    <a:pt x="2881010" y="10533"/>
                  </a:cubicBezTo>
                  <a:cubicBezTo>
                    <a:pt x="2887755" y="17278"/>
                    <a:pt x="2891544" y="26425"/>
                    <a:pt x="2891544" y="35964"/>
                  </a:cubicBezTo>
                  <a:lnTo>
                    <a:pt x="2891544" y="200705"/>
                  </a:lnTo>
                  <a:cubicBezTo>
                    <a:pt x="2891544" y="210243"/>
                    <a:pt x="2887755" y="219391"/>
                    <a:pt x="2881010" y="226135"/>
                  </a:cubicBezTo>
                  <a:cubicBezTo>
                    <a:pt x="2874266" y="232880"/>
                    <a:pt x="2865118" y="236669"/>
                    <a:pt x="2855580" y="236669"/>
                  </a:cubicBezTo>
                  <a:lnTo>
                    <a:pt x="35964" y="236669"/>
                  </a:lnTo>
                  <a:cubicBezTo>
                    <a:pt x="26425" y="236669"/>
                    <a:pt x="17278" y="232880"/>
                    <a:pt x="10533" y="226135"/>
                  </a:cubicBezTo>
                  <a:cubicBezTo>
                    <a:pt x="3789" y="219391"/>
                    <a:pt x="0" y="210243"/>
                    <a:pt x="0" y="200705"/>
                  </a:cubicBezTo>
                  <a:lnTo>
                    <a:pt x="0" y="35964"/>
                  </a:lnTo>
                  <a:cubicBezTo>
                    <a:pt x="0" y="26425"/>
                    <a:pt x="3789" y="17278"/>
                    <a:pt x="10533" y="10533"/>
                  </a:cubicBezTo>
                  <a:cubicBezTo>
                    <a:pt x="17278" y="3789"/>
                    <a:pt x="26425" y="0"/>
                    <a:pt x="35964" y="0"/>
                  </a:cubicBezTo>
                  <a:close/>
                </a:path>
              </a:pathLst>
            </a:custGeom>
            <a:solidFill>
              <a:srgbClr val="FFFFFF"/>
            </a:solidFill>
            <a:ln cap="rnd">
              <a:noFill/>
              <a:prstDash val="solid"/>
              <a:round/>
            </a:ln>
          </p:spPr>
        </p:sp>
        <p:sp>
          <p:nvSpPr>
            <p:cNvPr name="TextBox 10" id="10"/>
            <p:cNvSpPr txBox="true"/>
            <p:nvPr/>
          </p:nvSpPr>
          <p:spPr>
            <a:xfrm>
              <a:off x="0" y="-38100"/>
              <a:ext cx="2891544" cy="274769"/>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4753649" y="6407981"/>
            <a:ext cx="656188" cy="656188"/>
          </a:xfrm>
          <a:custGeom>
            <a:avLst/>
            <a:gdLst/>
            <a:ahLst/>
            <a:cxnLst/>
            <a:rect r="r" b="b" t="t" l="l"/>
            <a:pathLst>
              <a:path h="656188" w="656188">
                <a:moveTo>
                  <a:pt x="0" y="0"/>
                </a:moveTo>
                <a:lnTo>
                  <a:pt x="656188" y="0"/>
                </a:lnTo>
                <a:lnTo>
                  <a:pt x="656188" y="656188"/>
                </a:lnTo>
                <a:lnTo>
                  <a:pt x="0" y="6561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8502397" y="6407981"/>
            <a:ext cx="611847" cy="611847"/>
          </a:xfrm>
          <a:custGeom>
            <a:avLst/>
            <a:gdLst/>
            <a:ahLst/>
            <a:cxnLst/>
            <a:rect r="r" b="b" t="t" l="l"/>
            <a:pathLst>
              <a:path h="611847" w="611847">
                <a:moveTo>
                  <a:pt x="0" y="0"/>
                </a:moveTo>
                <a:lnTo>
                  <a:pt x="611846" y="0"/>
                </a:lnTo>
                <a:lnTo>
                  <a:pt x="611846" y="611846"/>
                </a:lnTo>
                <a:lnTo>
                  <a:pt x="0" y="6118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2386880" y="2768249"/>
            <a:ext cx="13514241" cy="2696556"/>
          </a:xfrm>
          <a:prstGeom prst="rect">
            <a:avLst/>
          </a:prstGeom>
        </p:spPr>
        <p:txBody>
          <a:bodyPr anchor="t" rtlCol="false" tIns="0" lIns="0" bIns="0" rIns="0">
            <a:spAutoFit/>
          </a:bodyPr>
          <a:lstStyle/>
          <a:p>
            <a:pPr algn="ctr">
              <a:lnSpc>
                <a:spcPts val="21818"/>
              </a:lnSpc>
            </a:pPr>
            <a:r>
              <a:rPr lang="en-US" sz="15584">
                <a:solidFill>
                  <a:srgbClr val="FFFFFF"/>
                </a:solidFill>
                <a:latin typeface="Adriana"/>
                <a:ea typeface="Adriana"/>
                <a:cs typeface="Adriana"/>
                <a:sym typeface="Adriana"/>
              </a:rPr>
              <a:t>THANK YOU</a:t>
            </a:r>
          </a:p>
        </p:txBody>
      </p:sp>
      <p:sp>
        <p:nvSpPr>
          <p:cNvPr name="TextBox 14" id="14"/>
          <p:cNvSpPr txBox="true"/>
          <p:nvPr/>
        </p:nvSpPr>
        <p:spPr>
          <a:xfrm rot="0">
            <a:off x="5650649" y="6475027"/>
            <a:ext cx="2851748"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+123-456-7890</a:t>
            </a:r>
          </a:p>
        </p:txBody>
      </p:sp>
      <p:sp>
        <p:nvSpPr>
          <p:cNvPr name="TextBox 15" id="15"/>
          <p:cNvSpPr txBox="true"/>
          <p:nvPr/>
        </p:nvSpPr>
        <p:spPr>
          <a:xfrm rot="0">
            <a:off x="9352368" y="6475027"/>
            <a:ext cx="4181983" cy="455421"/>
          </a:xfrm>
          <a:prstGeom prst="rect">
            <a:avLst/>
          </a:prstGeom>
        </p:spPr>
        <p:txBody>
          <a:bodyPr anchor="t" rtlCol="false" tIns="0" lIns="0" bIns="0" rIns="0">
            <a:spAutoFit/>
          </a:bodyPr>
          <a:lstStyle/>
          <a:p>
            <a:pPr algn="l">
              <a:lnSpc>
                <a:spcPts val="3602"/>
              </a:lnSpc>
            </a:pPr>
            <a:r>
              <a:rPr lang="en-US" sz="2573">
                <a:solidFill>
                  <a:srgbClr val="041636"/>
                </a:solidFill>
                <a:latin typeface="Poppins"/>
                <a:ea typeface="Poppins"/>
                <a:cs typeface="Poppins"/>
                <a:sym typeface="Poppins"/>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DAHWLFolTrc</dc:identifier>
  <dcterms:modified xsi:type="dcterms:W3CDTF">2011-08-01T06:04:30Z</dcterms:modified>
  <cp:revision>1</cp:revision>
  <dc:title>Blue White and Dark Blue Futuristic Technology Presentation</dc:title>
</cp:coreProperties>
</file>