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0364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rPr lang="en-US" dirty="0"/>
              <a:t>OPTIMIZING FIRST PASS YIELD</a:t>
            </a:r>
          </a:p>
          <a:p>
            <a:pPr>
              <a:spcAft>
                <a:spcPts val="3000"/>
              </a:spcAft>
              <a:defRPr sz="2200">
                <a:solidFill>
                  <a:srgbClr val="0284C7"/>
                </a:solidFill>
                <a:latin typeface="Arial"/>
              </a:defRPr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AN Automated Pressure &amp; Vacuum Monitoring System for TRI ICT Machines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To Prevent False Call During Vacuum &amp; pneumatic     </a:t>
            </a:r>
          </a:p>
          <a:p>
            <a:pPr>
              <a:defRPr sz="1400">
                <a:solidFill>
                  <a:srgbClr val="4B5563"/>
                </a:solidFill>
                <a:latin typeface="Arial"/>
              </a:defRPr>
            </a:pPr>
            <a:r>
              <a:rPr dirty="0"/>
              <a:t>Technical Specifications &amp; Operational Architecture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8789009" cy="4308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rPr dirty="0"/>
              <a:t>The Problem: Unnoticed </a:t>
            </a:r>
            <a:r>
              <a:rPr lang="en-US" dirty="0"/>
              <a:t>Pneumatic &amp; vacuum </a:t>
            </a:r>
            <a:r>
              <a:rPr dirty="0"/>
              <a:t>Fluctuations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80560" y="2225118"/>
            <a:ext cx="3200400" cy="12484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2626"/>
                </a:solidFill>
              </a:defRPr>
            </a:pPr>
            <a:r>
              <a:rPr dirty="0"/>
              <a:t>0</a:t>
            </a:r>
            <a:r>
              <a:rPr lang="en-US" dirty="0"/>
              <a:t>2</a:t>
            </a:r>
            <a:r>
              <a:rPr dirty="0"/>
              <a:t>. Fixtures Lose Pull-Down Force</a:t>
            </a:r>
          </a:p>
          <a:p>
            <a:pPr>
              <a:lnSpc>
                <a:spcPct val="130000"/>
              </a:lnSpc>
              <a:defRPr sz="1400">
                <a:solidFill>
                  <a:srgbClr val="4B5563"/>
                </a:solidFill>
              </a:defRPr>
            </a:pPr>
            <a:r>
              <a:rPr dirty="0"/>
              <a:t>Pogo pins fail to make proper contact with test pads, causing unstable connection pathways.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75737"/>
            <a:ext cx="3200400" cy="9684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2626"/>
                </a:solidFill>
              </a:defRPr>
            </a:pPr>
            <a:r>
              <a:rPr dirty="0"/>
              <a:t>0</a:t>
            </a:r>
            <a:r>
              <a:rPr lang="en-US" dirty="0"/>
              <a:t>1</a:t>
            </a:r>
            <a:r>
              <a:rPr dirty="0"/>
              <a:t>. False Failures (False Calls)</a:t>
            </a:r>
          </a:p>
          <a:p>
            <a:pPr>
              <a:lnSpc>
                <a:spcPct val="130000"/>
              </a:lnSpc>
              <a:defRPr sz="1400">
                <a:solidFill>
                  <a:srgbClr val="4B5563"/>
                </a:solidFill>
              </a:defRPr>
            </a:pPr>
            <a:r>
              <a:rPr dirty="0"/>
              <a:t>Good Devices Under Test (DUTs) are flagged as failed due to open circuit faults.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286000"/>
            <a:ext cx="32004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DC2626"/>
                </a:solidFill>
              </a:defRPr>
            </a:pPr>
            <a:r>
              <a:rPr dirty="0"/>
              <a:t>03. Component &amp; Pin Damage</a:t>
            </a:r>
          </a:p>
          <a:p>
            <a:pPr>
              <a:lnSpc>
                <a:spcPct val="130000"/>
              </a:lnSpc>
              <a:defRPr sz="1400">
                <a:solidFill>
                  <a:srgbClr val="4B5563"/>
                </a:solidFill>
              </a:defRPr>
            </a:pPr>
            <a:r>
              <a:rPr dirty="0"/>
              <a:t>Incomplete seal pressure leads to misaligned pin contact and rapid trace/pin wear.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Solution Architecture: Hardwired Safety Interlock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284C7"/>
                </a:solidFill>
              </a:defRPr>
            </a:pPr>
            <a:r>
              <a:rPr dirty="0"/>
              <a:t>Zero Software Failure Points: No PLC or Microcontroller Required</a:t>
            </a:r>
          </a:p>
          <a:p>
            <a:pPr>
              <a:defRPr sz="1400">
                <a:solidFill>
                  <a:srgbClr val="4B5563"/>
                </a:solidFill>
              </a:defRPr>
            </a:pPr>
            <a:r>
              <a:rPr dirty="0"/>
              <a:t>This system implements a hardwired hardware safety interlock using SMC Digital Pressure Switches operating in Window Comparator Mode connected directly to 24V DC switching relays.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A8A"/>
                </a:solidFill>
              </a:defRPr>
            </a:pPr>
            <a:r>
              <a:rPr dirty="0"/>
              <a:t>Logical Hardware Signal Flow Chain:</a:t>
            </a:r>
          </a:p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</a:defRPr>
            </a:pPr>
            <a:r>
              <a:rPr dirty="0"/>
              <a:t>• Positive Air Line Supply: </a:t>
            </a:r>
            <a:r>
              <a:rPr b="0" dirty="0">
                <a:solidFill>
                  <a:srgbClr val="4B5563"/>
                </a:solidFill>
              </a:rPr>
              <a:t>Monitored by SMC ISE20 switch → Actuates Relay CR1 (NO Contact in Series)</a:t>
            </a:r>
          </a:p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</a:defRPr>
            </a:pPr>
            <a:r>
              <a:rPr dirty="0"/>
              <a:t>• Vacuum Line Suction Level: </a:t>
            </a:r>
            <a:r>
              <a:rPr b="0" dirty="0">
                <a:solidFill>
                  <a:srgbClr val="4B5563"/>
                </a:solidFill>
              </a:rPr>
              <a:t>Monitored by SMC ZSE20 switch → Actuates Relay CR2 (NO Contact in Series)</a:t>
            </a:r>
          </a:p>
          <a:p>
            <a:pPr>
              <a:spcAft>
                <a:spcPts val="600"/>
              </a:spcAft>
              <a:defRPr sz="1400" b="1">
                <a:solidFill>
                  <a:srgbClr val="111827"/>
                </a:solidFill>
              </a:defRPr>
            </a:pPr>
            <a:r>
              <a:rPr dirty="0"/>
              <a:t>• Series Output Validation: </a:t>
            </a:r>
            <a:r>
              <a:rPr b="0" dirty="0">
                <a:solidFill>
                  <a:srgbClr val="4B5563"/>
                </a:solidFill>
              </a:rPr>
              <a:t>ICT Start Enable Signal passes ONLY when both are OK. Otherwise triggers Failsafe Alert (Red Light/Buzzer).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t>Operational Thresholds &amp; Window Ranges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011680"/>
          <a:ext cx="103628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7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Sensor 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Window Range Limit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Signal Output Logic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Main Air Supply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SMC ISE20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4.0 to 6.0 kg/cm²</a:t>
                      </a:r>
                    </a:p>
                    <a:p>
                      <a:r>
                        <a:t>(4 to 6 bar)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Active-HIGH (24 V)</a:t>
                      </a:r>
                    </a:p>
                    <a:p>
                      <a:r>
                        <a:t>when inside window limits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Fixture Vacuum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SMC ZSE20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-16 to -25 cmHg</a:t>
                      </a:r>
                    </a:p>
                    <a:p>
                      <a:r>
                        <a:t>(Approx. -20 to -33 kPa)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11827"/>
                          </a:solidFill>
                        </a:defRPr>
                      </a:pPr>
                      <a:r>
                        <a:t>Active-HIGH (24 V)</a:t>
                      </a:r>
                    </a:p>
                    <a:p>
                      <a:r>
                        <a:t>when inside window limits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DC2626"/>
                </a:solidFill>
              </a:defRPr>
            </a:pPr>
            <a:r>
              <a:t>Failsafe Drop-out Logic:</a:t>
            </a:r>
          </a:p>
          <a:p>
            <a:pPr>
              <a:defRPr sz="1300">
                <a:solidFill>
                  <a:srgbClr val="4B5563"/>
                </a:solidFill>
              </a:defRPr>
            </a:pPr>
            <a:r>
              <a:t>Both sensors output 24 V (Active-HIGH) only while their inputs remain inside the specified window. If either reading drifts outside its range, the corresponding relay (CR1 / CR2) drops out, the series interlock opens, and the ICT start enable is completely blocked.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rPr dirty="0"/>
              <a:t>SMC ISE20 Positive Pressure Switch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Input Technical Specifications</a:t>
            </a:r>
          </a:p>
          <a:p>
            <a:pPr>
              <a:spcAft>
                <a:spcPts val="400"/>
              </a:spcAft>
              <a:defRPr sz="1300" b="1"/>
            </a:pPr>
            <a:r>
              <a:t>• Power Supply Voltage: </a:t>
            </a:r>
            <a:r>
              <a:rPr b="0">
                <a:solidFill>
                  <a:srgbClr val="4B5563"/>
                </a:solidFill>
              </a:rPr>
              <a:t>12–24 V DC ±10% (ripple p-p 10% max)</a:t>
            </a:r>
          </a:p>
          <a:p>
            <a:pPr>
              <a:spcAft>
                <a:spcPts val="400"/>
              </a:spcAft>
              <a:defRPr sz="1300" b="1"/>
            </a:pPr>
            <a:r>
              <a:t>• Current Consumption: </a:t>
            </a:r>
            <a:r>
              <a:rPr b="0">
                <a:solidFill>
                  <a:srgbClr val="4B5563"/>
                </a:solidFill>
              </a:rPr>
              <a:t>≤ 25 mA</a:t>
            </a:r>
          </a:p>
          <a:p>
            <a:pPr>
              <a:spcAft>
                <a:spcPts val="400"/>
              </a:spcAft>
              <a:defRPr sz="1300" b="1"/>
            </a:pPr>
            <a:r>
              <a:t>• Applicable Fluid Type: </a:t>
            </a:r>
            <a:r>
              <a:rPr b="0">
                <a:solidFill>
                  <a:srgbClr val="4B5563"/>
                </a:solidFill>
              </a:rPr>
              <a:t>Air, non-corrosive / non-flammable gas</a:t>
            </a:r>
          </a:p>
          <a:p>
            <a:pPr>
              <a:spcAft>
                <a:spcPts val="400"/>
              </a:spcAft>
              <a:defRPr sz="1300" b="1"/>
            </a:pPr>
            <a:r>
              <a:t>• Rated Pressure Scope: </a:t>
            </a:r>
            <a:r>
              <a:rPr b="0">
                <a:solidFill>
                  <a:srgbClr val="4B5563"/>
                </a:solidFill>
              </a:rPr>
              <a:t>-0.100 to 1.000 MPa (positive pressure)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Output &amp; Control Technical Specifications</a:t>
            </a:r>
          </a:p>
          <a:p>
            <a:pPr>
              <a:spcAft>
                <a:spcPts val="400"/>
              </a:spcAft>
              <a:defRPr sz="1300" b="1"/>
            </a:pPr>
            <a:r>
              <a:t>• Output Topology: </a:t>
            </a:r>
            <a:r>
              <a:rPr b="0">
                <a:solidFill>
                  <a:srgbClr val="4B5563"/>
                </a:solidFill>
              </a:rPr>
              <a:t>NPN or PNP open collector, 1 output channel</a:t>
            </a:r>
          </a:p>
          <a:p>
            <a:pPr>
              <a:spcAft>
                <a:spcPts val="400"/>
              </a:spcAft>
              <a:defRPr sz="1300" b="1"/>
            </a:pPr>
            <a:r>
              <a:t>• Configurable Modes: </a:t>
            </a:r>
            <a:r>
              <a:rPr b="0">
                <a:solidFill>
                  <a:srgbClr val="4B5563"/>
                </a:solidFill>
              </a:rPr>
              <a:t>Hysteresis, window comparator, error, or OFF</a:t>
            </a:r>
          </a:p>
          <a:p>
            <a:pPr>
              <a:spcAft>
                <a:spcPts val="400"/>
              </a:spcAft>
              <a:defRPr sz="1300" b="1"/>
            </a:pPr>
            <a:r>
              <a:t>• Max Load Capacity: </a:t>
            </a:r>
            <a:r>
              <a:rPr b="0">
                <a:solidFill>
                  <a:srgbClr val="4B5563"/>
                </a:solidFill>
              </a:rPr>
              <a:t>80 mA maximum</a:t>
            </a:r>
          </a:p>
          <a:p>
            <a:pPr>
              <a:spcAft>
                <a:spcPts val="400"/>
              </a:spcAft>
              <a:defRPr sz="1300" b="1"/>
            </a:pPr>
            <a:r>
              <a:t>• Max Applied Volt: </a:t>
            </a:r>
            <a:r>
              <a:rPr b="0">
                <a:solidFill>
                  <a:srgbClr val="4B5563"/>
                </a:solidFill>
              </a:rPr>
              <a:t>28 V (for NPN open collector configurations)</a:t>
            </a:r>
          </a:p>
          <a:p>
            <a:pPr>
              <a:spcAft>
                <a:spcPts val="400"/>
              </a:spcAft>
              <a:defRPr sz="1300" b="1"/>
            </a:pPr>
            <a:r>
              <a:t>• Internal Volt Drop: </a:t>
            </a:r>
            <a:r>
              <a:rPr b="0">
                <a:solidFill>
                  <a:srgbClr val="4B5563"/>
                </a:solidFill>
              </a:rPr>
              <a:t>≤ 1 V (measured at full 80 mA load)</a:t>
            </a:r>
          </a:p>
          <a:p>
            <a:pPr>
              <a:spcAft>
                <a:spcPts val="400"/>
              </a:spcAft>
              <a:defRPr sz="1300" b="1"/>
            </a:pPr>
            <a:r>
              <a:t>• Response Delay Time: </a:t>
            </a:r>
            <a:r>
              <a:rPr b="0">
                <a:solidFill>
                  <a:srgbClr val="4B5563"/>
                </a:solidFill>
              </a:rPr>
              <a:t>≤ 1.5 ms (Anti-chatter: 20–5,000 ms selectable)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800" b="1">
                <a:solidFill>
                  <a:srgbClr val="1E3A8A"/>
                </a:solidFill>
              </a:defRPr>
            </a:pPr>
            <a:r>
              <a:rPr dirty="0"/>
              <a:t>SMC ZSE20 Vacuum Pressure Switch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Input Technical Specifications</a:t>
            </a:r>
          </a:p>
          <a:p>
            <a:pPr>
              <a:spcAft>
                <a:spcPts val="400"/>
              </a:spcAft>
              <a:defRPr sz="1300" b="1"/>
            </a:pPr>
            <a:r>
              <a:t>• Power Supply Voltage: </a:t>
            </a:r>
            <a:r>
              <a:rPr b="0">
                <a:solidFill>
                  <a:srgbClr val="4B5563"/>
                </a:solidFill>
              </a:rPr>
              <a:t>12–24 V DC ±10% standard tracking</a:t>
            </a:r>
          </a:p>
          <a:p>
            <a:pPr>
              <a:spcAft>
                <a:spcPts val="400"/>
              </a:spcAft>
              <a:defRPr sz="1300" b="1"/>
            </a:pPr>
            <a:r>
              <a:t>• Current Demands: </a:t>
            </a:r>
            <a:r>
              <a:rPr b="0">
                <a:solidFill>
                  <a:srgbClr val="4B5563"/>
                </a:solidFill>
              </a:rPr>
              <a:t>≤ 25 mA (ZSE20); ≤ 35 mA (ZSE20B)</a:t>
            </a:r>
          </a:p>
          <a:p>
            <a:pPr>
              <a:spcAft>
                <a:spcPts val="400"/>
              </a:spcAft>
              <a:defRPr sz="1300" b="1"/>
            </a:pPr>
            <a:r>
              <a:t>• Applicable Fluid Type: </a:t>
            </a:r>
            <a:r>
              <a:rPr b="0">
                <a:solidFill>
                  <a:srgbClr val="4B5563"/>
                </a:solidFill>
              </a:rPr>
              <a:t>Air, non-corrosive / non-flammable gas</a:t>
            </a:r>
          </a:p>
          <a:p>
            <a:pPr>
              <a:spcAft>
                <a:spcPts val="400"/>
              </a:spcAft>
              <a:defRPr sz="1300" b="1"/>
            </a:pPr>
            <a:r>
              <a:t>• Rated Vacuum Scope: </a:t>
            </a:r>
            <a:r>
              <a:rPr b="0">
                <a:solidFill>
                  <a:srgbClr val="4B5563"/>
                </a:solidFill>
              </a:rPr>
              <a:t>0.0 to -101.0 kPa (vacuum threshold)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284C7"/>
                </a:solidFill>
              </a:defRPr>
            </a:pPr>
            <a:r>
              <a:t>Output &amp; Configuration Specifications</a:t>
            </a:r>
          </a:p>
          <a:p>
            <a:pPr>
              <a:spcAft>
                <a:spcPts val="400"/>
              </a:spcAft>
              <a:defRPr sz="1300" b="1"/>
            </a:pPr>
            <a:r>
              <a:t>• Available Output Types: </a:t>
            </a:r>
            <a:r>
              <a:rPr b="0">
                <a:solidFill>
                  <a:srgbClr val="4B5563"/>
                </a:solidFill>
              </a:rPr>
              <a:t>ZSE20: 1 output; ZSE20B: 2 outputs + analog</a:t>
            </a:r>
          </a:p>
          <a:p>
            <a:pPr>
              <a:spcAft>
                <a:spcPts val="400"/>
              </a:spcAft>
              <a:defRPr sz="1300" b="1"/>
            </a:pPr>
            <a:r>
              <a:t>• Output Configurations: </a:t>
            </a:r>
            <a:r>
              <a:rPr b="0">
                <a:solidFill>
                  <a:srgbClr val="4B5563"/>
                </a:solidFill>
              </a:rPr>
              <a:t>NPN or PNP open collector choices</a:t>
            </a:r>
          </a:p>
          <a:p>
            <a:pPr>
              <a:spcAft>
                <a:spcPts val="400"/>
              </a:spcAft>
              <a:defRPr sz="1300" b="1"/>
            </a:pPr>
            <a:r>
              <a:t>• Max Load Current: </a:t>
            </a:r>
            <a:r>
              <a:rPr b="0">
                <a:solidFill>
                  <a:srgbClr val="4B5563"/>
                </a:solidFill>
              </a:rPr>
              <a:t>80 mA maximum</a:t>
            </a:r>
          </a:p>
          <a:p>
            <a:pPr>
              <a:spcAft>
                <a:spcPts val="400"/>
              </a:spcAft>
              <a:defRPr sz="1300" b="1"/>
            </a:pPr>
            <a:r>
              <a:t>• Max Applied Volt: </a:t>
            </a:r>
            <a:r>
              <a:rPr b="0">
                <a:solidFill>
                  <a:srgbClr val="4B5563"/>
                </a:solidFill>
              </a:rPr>
              <a:t>28 V (for NPN open collector loops)</a:t>
            </a:r>
          </a:p>
          <a:p>
            <a:pPr>
              <a:spcAft>
                <a:spcPts val="400"/>
              </a:spcAft>
              <a:defRPr sz="1300" b="1"/>
            </a:pPr>
            <a:r>
              <a:t>• Internal Volt Drop: </a:t>
            </a:r>
            <a:r>
              <a:rPr b="0">
                <a:solidFill>
                  <a:srgbClr val="4B5563"/>
                </a:solidFill>
              </a:rPr>
              <a:t>≤ 1 V (measured at full 80 mA load)</a:t>
            </a:r>
          </a:p>
          <a:p>
            <a:pPr>
              <a:spcAft>
                <a:spcPts val="400"/>
              </a:spcAft>
              <a:defRPr sz="1300" b="1"/>
            </a:pPr>
            <a:r>
              <a:t>• High-Speed Response: </a:t>
            </a:r>
            <a:r>
              <a:rPr b="0">
                <a:solidFill>
                  <a:srgbClr val="4B5563"/>
                </a:solidFill>
              </a:rPr>
              <a:t>≤ 1.5 ms delay time for sharp control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635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 Bhade3725476</cp:lastModifiedBy>
  <cp:revision>2</cp:revision>
  <dcterms:created xsi:type="dcterms:W3CDTF">2013-01-27T09:14:16Z</dcterms:created>
  <dcterms:modified xsi:type="dcterms:W3CDTF">2026-09-24T12:46:02Z</dcterms:modified>
  <cp:category/>
</cp:coreProperties>
</file>